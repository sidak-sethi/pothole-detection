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784" cy="2138781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2EC"/>
        </a:solidFill>
        <a:effectLst/>
      </p:bgPr>
    </p:bg>
    <p:spTree>
      <p:nvGrpSpPr>
        <p:cNvPr id="1" name=""/>
        <p:cNvGrpSpPr/>
        <p:nvPr/>
      </p:nvGrpSpPr>
      <p:grpSpPr/>
      <p:sp>
        <p:nvSpPr>
          <p:cNvPr id="2" name="Rectangle 1"/>
          <p:cNvSpPr/>
          <p:nvPr/>
        </p:nvSpPr>
        <p:spPr>
          <a:xfrm>
            <a:off x="0" y="0"/>
            <a:ext cx="30275784" cy="2103120"/>
          </a:xfrm>
          <a:prstGeom prst="rect">
            <a:avLst/>
          </a:prstGeom>
          <a:solidFill>
            <a:srgbClr val="1F2B2D"/>
          </a:solidFill>
          <a:ln w="11430">
            <a:solidFill>
              <a:srgbClr val="1F2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84048"/>
            <a:ext cx="713232" cy="713232"/>
          </a:xfrm>
          <a:prstGeom prst="ellipse">
            <a:avLst/>
          </a:prstGeom>
          <a:solidFill>
            <a:srgbClr val="2F7375"/>
          </a:solidFill>
          <a:ln w="1016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13232" y="585216"/>
            <a:ext cx="274320" cy="274320"/>
          </a:xfrm>
          <a:prstGeom prst="ellipse">
            <a:avLst/>
          </a:prstGeom>
          <a:solidFill>
            <a:srgbClr val="1F2B2D"/>
          </a:solidFill>
          <a:ln w="10160">
            <a:solidFill>
              <a:srgbClr val="1F2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8096" y="950976"/>
            <a:ext cx="118872" cy="274320"/>
          </a:xfrm>
          <a:prstGeom prst="rect">
            <a:avLst/>
          </a:prstGeom>
          <a:solidFill>
            <a:srgbClr val="2F7375"/>
          </a:solidFill>
          <a:ln w="1143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17320" y="246888"/>
            <a:ext cx="17099280" cy="658368"/>
          </a:xfrm>
          <a:prstGeom prst="rect">
            <a:avLst/>
          </a:prstGeom>
          <a:noFill/>
        </p:spPr>
        <p:txBody>
          <a:bodyPr wrap="square" lIns="0" rIns="0" tIns="0" bIns="0" anchor="ctr">
            <a:spAutoFit/>
          </a:bodyPr>
          <a:lstStyle/>
          <a:p>
            <a:pPr algn="l">
              <a:lnSpc>
                <a:spcPct val="100000"/>
              </a:lnSpc>
              <a:spcBef>
                <a:spcPts val="0"/>
              </a:spcBef>
              <a:spcAft>
                <a:spcPts val="350"/>
              </a:spcAft>
            </a:pPr>
            <a:r>
              <a:rPr sz="3800" b="1" i="0">
                <a:solidFill>
                  <a:srgbClr val="FFFFFF"/>
                </a:solidFill>
                <a:latin typeface="Arial"/>
              </a:rPr>
              <a:t>ROADWATCH</a:t>
            </a:r>
          </a:p>
        </p:txBody>
      </p:sp>
      <p:sp>
        <p:nvSpPr>
          <p:cNvPr id="7" name="TextBox 6"/>
          <p:cNvSpPr txBox="1"/>
          <p:nvPr/>
        </p:nvSpPr>
        <p:spPr>
          <a:xfrm>
            <a:off x="1435608" y="950976"/>
            <a:ext cx="20116800" cy="365760"/>
          </a:xfrm>
          <a:prstGeom prst="rect">
            <a:avLst/>
          </a:prstGeom>
          <a:noFill/>
        </p:spPr>
        <p:txBody>
          <a:bodyPr wrap="square" lIns="0" rIns="0" tIns="0" bIns="0" anchor="ctr">
            <a:spAutoFit/>
          </a:bodyPr>
          <a:lstStyle/>
          <a:p>
            <a:pPr algn="l">
              <a:lnSpc>
                <a:spcPct val="100000"/>
              </a:lnSpc>
              <a:spcBef>
                <a:spcPts val="0"/>
              </a:spcBef>
              <a:spcAft>
                <a:spcPts val="350"/>
              </a:spcAft>
            </a:pPr>
            <a:r>
              <a:rPr sz="2000" b="0" i="0">
                <a:solidFill>
                  <a:srgbClr val="DCE5E2"/>
                </a:solidFill>
                <a:latin typeface="Arial"/>
              </a:rPr>
              <a:t>Geospatial road-defect intelligence for municipal maintenance in Chennai</a:t>
            </a:r>
          </a:p>
        </p:txBody>
      </p:sp>
      <p:sp>
        <p:nvSpPr>
          <p:cNvPr id="8" name="TextBox 7"/>
          <p:cNvSpPr txBox="1"/>
          <p:nvPr/>
        </p:nvSpPr>
        <p:spPr>
          <a:xfrm>
            <a:off x="1444752" y="1472184"/>
            <a:ext cx="21945600" cy="274320"/>
          </a:xfrm>
          <a:prstGeom prst="rect">
            <a:avLst/>
          </a:prstGeom>
          <a:noFill/>
        </p:spPr>
        <p:txBody>
          <a:bodyPr wrap="square" lIns="0" rIns="0" tIns="0" bIns="0" anchor="ctr">
            <a:spAutoFit/>
          </a:bodyPr>
          <a:lstStyle/>
          <a:p>
            <a:pPr algn="l">
              <a:lnSpc>
                <a:spcPct val="100000"/>
              </a:lnSpc>
              <a:spcBef>
                <a:spcPts val="0"/>
              </a:spcBef>
              <a:spcAft>
                <a:spcPts val="350"/>
              </a:spcAft>
            </a:pPr>
            <a:r>
              <a:rPr sz="1300" b="0" i="0">
                <a:solidFill>
                  <a:srgbClr val="CCD6D3"/>
                </a:solidFill>
                <a:latin typeface="Arial"/>
              </a:rPr>
              <a:t>Sidak Singh  |  School of Computer Science and Engineering  |  VIT Chennai</a:t>
            </a:r>
          </a:p>
        </p:txBody>
      </p:sp>
      <p:sp>
        <p:nvSpPr>
          <p:cNvPr id="9" name="Rounded Rectangle 8"/>
          <p:cNvSpPr/>
          <p:nvPr/>
        </p:nvSpPr>
        <p:spPr>
          <a:xfrm>
            <a:off x="23957280" y="384048"/>
            <a:ext cx="5715000" cy="1097280"/>
          </a:xfrm>
          <a:prstGeom prst="roundRect">
            <a:avLst>
              <a:gd name="adj" fmla="val 8000"/>
            </a:avLst>
          </a:prstGeom>
          <a:solidFill>
            <a:srgbClr val="2B3A3C"/>
          </a:solidFill>
          <a:ln w="11430">
            <a:solidFill>
              <a:srgbClr val="2B3A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185880" y="548640"/>
            <a:ext cx="5303520" cy="292608"/>
          </a:xfrm>
          <a:prstGeom prst="rect">
            <a:avLst/>
          </a:prstGeom>
          <a:noFill/>
        </p:spPr>
        <p:txBody>
          <a:bodyPr wrap="square" lIns="0" rIns="0" tIns="0" bIns="0" anchor="t">
            <a:spAutoFit/>
          </a:bodyPr>
          <a:lstStyle/>
          <a:p>
            <a:pPr algn="r">
              <a:lnSpc>
                <a:spcPct val="100000"/>
              </a:lnSpc>
              <a:spcBef>
                <a:spcPts val="0"/>
              </a:spcBef>
              <a:spcAft>
                <a:spcPts val="350"/>
              </a:spcAft>
            </a:pPr>
            <a:r>
              <a:rPr sz="1300" b="1" i="0">
                <a:solidFill>
                  <a:srgbClr val="D1A23E"/>
                </a:solidFill>
                <a:latin typeface="Arial"/>
              </a:rPr>
              <a:t>DESIGN OF SMART CITIES</a:t>
            </a:r>
          </a:p>
        </p:txBody>
      </p:sp>
      <p:sp>
        <p:nvSpPr>
          <p:cNvPr id="11" name="TextBox 10"/>
          <p:cNvSpPr txBox="1"/>
          <p:nvPr/>
        </p:nvSpPr>
        <p:spPr>
          <a:xfrm>
            <a:off x="24185880" y="877824"/>
            <a:ext cx="5303520" cy="283464"/>
          </a:xfrm>
          <a:prstGeom prst="rect">
            <a:avLst/>
          </a:prstGeom>
          <a:noFill/>
        </p:spPr>
        <p:txBody>
          <a:bodyPr wrap="square" lIns="0" rIns="0" tIns="0" bIns="0" anchor="t">
            <a:spAutoFit/>
          </a:bodyPr>
          <a:lstStyle/>
          <a:p>
            <a:pPr algn="r">
              <a:lnSpc>
                <a:spcPct val="100000"/>
              </a:lnSpc>
              <a:spcBef>
                <a:spcPts val="0"/>
              </a:spcBef>
              <a:spcAft>
                <a:spcPts val="350"/>
              </a:spcAft>
            </a:pPr>
            <a:r>
              <a:rPr sz="1400" b="1" i="0">
                <a:solidFill>
                  <a:srgbClr val="FFFFFF"/>
                </a:solidFill>
                <a:latin typeface="Arial"/>
              </a:rPr>
              <a:t>Tamil Nadu Smart Cities Project</a:t>
            </a:r>
          </a:p>
        </p:txBody>
      </p:sp>
      <p:sp>
        <p:nvSpPr>
          <p:cNvPr id="12" name="TextBox 11"/>
          <p:cNvSpPr txBox="1"/>
          <p:nvPr/>
        </p:nvSpPr>
        <p:spPr>
          <a:xfrm>
            <a:off x="24185880" y="1207008"/>
            <a:ext cx="5303520" cy="182880"/>
          </a:xfrm>
          <a:prstGeom prst="rect">
            <a:avLst/>
          </a:prstGeom>
          <a:noFill/>
        </p:spPr>
        <p:txBody>
          <a:bodyPr wrap="square" lIns="0" rIns="0" tIns="0" bIns="0" anchor="t">
            <a:spAutoFit/>
          </a:bodyPr>
          <a:lstStyle/>
          <a:p>
            <a:pPr algn="r">
              <a:lnSpc>
                <a:spcPct val="100000"/>
              </a:lnSpc>
              <a:spcBef>
                <a:spcPts val="0"/>
              </a:spcBef>
              <a:spcAft>
                <a:spcPts val="350"/>
              </a:spcAft>
            </a:pPr>
            <a:r>
              <a:rPr sz="950" b="1" i="0">
                <a:solidFill>
                  <a:srgbClr val="C9D4D0"/>
                </a:solidFill>
                <a:latin typeface="Arial"/>
              </a:rPr>
              <a:t>MAP  •  TRIAGE  •  SPATIAL ANALYTICS</a:t>
            </a:r>
          </a:p>
        </p:txBody>
      </p:sp>
      <p:sp>
        <p:nvSpPr>
          <p:cNvPr id="13" name="Rounded Rectangle 12"/>
          <p:cNvSpPr/>
          <p:nvPr/>
        </p:nvSpPr>
        <p:spPr>
          <a:xfrm>
            <a:off x="457200" y="2240280"/>
            <a:ext cx="7230618" cy="804672"/>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240280"/>
            <a:ext cx="91440" cy="804672"/>
          </a:xfrm>
          <a:prstGeom prst="rect">
            <a:avLst/>
          </a:prstGeom>
          <a:solidFill>
            <a:srgbClr val="2F7375"/>
          </a:solidFill>
          <a:ln w="1143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340864"/>
            <a:ext cx="1143000" cy="493776"/>
          </a:xfrm>
          <a:prstGeom prst="rect">
            <a:avLst/>
          </a:prstGeom>
          <a:noFill/>
        </p:spPr>
        <p:txBody>
          <a:bodyPr wrap="square" lIns="0" rIns="0" tIns="0" bIns="0" anchor="ctr">
            <a:spAutoFit/>
          </a:bodyPr>
          <a:lstStyle/>
          <a:p>
            <a:pPr algn="l">
              <a:lnSpc>
                <a:spcPct val="100000"/>
              </a:lnSpc>
              <a:spcBef>
                <a:spcPts val="0"/>
              </a:spcBef>
              <a:spcAft>
                <a:spcPts val="350"/>
              </a:spcAft>
            </a:pPr>
            <a:r>
              <a:rPr sz="3000" b="1" i="0">
                <a:solidFill>
                  <a:srgbClr val="2F7375"/>
                </a:solidFill>
                <a:latin typeface="Arial"/>
              </a:rPr>
              <a:t>30</a:t>
            </a:r>
          </a:p>
        </p:txBody>
      </p:sp>
      <p:sp>
        <p:nvSpPr>
          <p:cNvPr id="16" name="TextBox 15"/>
          <p:cNvSpPr txBox="1"/>
          <p:nvPr/>
        </p:nvSpPr>
        <p:spPr>
          <a:xfrm>
            <a:off x="1783080" y="2340864"/>
            <a:ext cx="5694426" cy="512064"/>
          </a:xfrm>
          <a:prstGeom prst="rect">
            <a:avLst/>
          </a:prstGeom>
          <a:noFill/>
        </p:spPr>
        <p:txBody>
          <a:bodyPr wrap="square" lIns="0" rIns="0" tIns="0" bIns="0" anchor="ctr">
            <a:spAutoFit/>
          </a:bodyPr>
          <a:lstStyle/>
          <a:p>
            <a:pPr algn="l">
              <a:lnSpc>
                <a:spcPct val="100000"/>
              </a:lnSpc>
              <a:spcBef>
                <a:spcPts val="0"/>
              </a:spcBef>
              <a:spcAft>
                <a:spcPts val="350"/>
              </a:spcAft>
            </a:pPr>
            <a:r>
              <a:rPr sz="1400" b="1" i="0">
                <a:solidFill>
                  <a:srgbClr val="233235"/>
                </a:solidFill>
                <a:latin typeface="Arial"/>
              </a:rPr>
              <a:t>structured records in current source</a:t>
            </a:r>
          </a:p>
        </p:txBody>
      </p:sp>
      <p:sp>
        <p:nvSpPr>
          <p:cNvPr id="17" name="Rounded Rectangle 16"/>
          <p:cNvSpPr/>
          <p:nvPr/>
        </p:nvSpPr>
        <p:spPr>
          <a:xfrm>
            <a:off x="7834121" y="2240280"/>
            <a:ext cx="7230618" cy="804672"/>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834121" y="2240280"/>
            <a:ext cx="91440" cy="804672"/>
          </a:xfrm>
          <a:prstGeom prst="rect">
            <a:avLst/>
          </a:prstGeom>
          <a:solidFill>
            <a:srgbClr val="C35D40"/>
          </a:solidFill>
          <a:ln w="1143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2721" y="2340864"/>
            <a:ext cx="1143000" cy="493776"/>
          </a:xfrm>
          <a:prstGeom prst="rect">
            <a:avLst/>
          </a:prstGeom>
          <a:noFill/>
        </p:spPr>
        <p:txBody>
          <a:bodyPr wrap="square" lIns="0" rIns="0" tIns="0" bIns="0" anchor="ctr">
            <a:spAutoFit/>
          </a:bodyPr>
          <a:lstStyle/>
          <a:p>
            <a:pPr algn="l">
              <a:lnSpc>
                <a:spcPct val="100000"/>
              </a:lnSpc>
              <a:spcBef>
                <a:spcPts val="0"/>
              </a:spcBef>
              <a:spcAft>
                <a:spcPts val="350"/>
              </a:spcAft>
            </a:pPr>
            <a:r>
              <a:rPr sz="3000" b="1" i="0">
                <a:solidFill>
                  <a:srgbClr val="C35D40"/>
                </a:solidFill>
                <a:latin typeface="Arial"/>
              </a:rPr>
              <a:t>4</a:t>
            </a:r>
          </a:p>
        </p:txBody>
      </p:sp>
      <p:sp>
        <p:nvSpPr>
          <p:cNvPr id="20" name="TextBox 19"/>
          <p:cNvSpPr txBox="1"/>
          <p:nvPr/>
        </p:nvSpPr>
        <p:spPr>
          <a:xfrm>
            <a:off x="9160001" y="2340864"/>
            <a:ext cx="5694426" cy="512064"/>
          </a:xfrm>
          <a:prstGeom prst="rect">
            <a:avLst/>
          </a:prstGeom>
          <a:noFill/>
        </p:spPr>
        <p:txBody>
          <a:bodyPr wrap="square" lIns="0" rIns="0" tIns="0" bIns="0" anchor="ctr">
            <a:spAutoFit/>
          </a:bodyPr>
          <a:lstStyle/>
          <a:p>
            <a:pPr algn="l">
              <a:lnSpc>
                <a:spcPct val="100000"/>
              </a:lnSpc>
              <a:spcBef>
                <a:spcPts val="0"/>
              </a:spcBef>
              <a:spcAft>
                <a:spcPts val="350"/>
              </a:spcAft>
            </a:pPr>
            <a:r>
              <a:rPr sz="1400" b="1" i="0">
                <a:solidFill>
                  <a:srgbClr val="233235"/>
                </a:solidFill>
                <a:latin typeface="Arial"/>
              </a:rPr>
              <a:t>severity levels</a:t>
            </a:r>
          </a:p>
        </p:txBody>
      </p:sp>
      <p:sp>
        <p:nvSpPr>
          <p:cNvPr id="21" name="Rounded Rectangle 20"/>
          <p:cNvSpPr/>
          <p:nvPr/>
        </p:nvSpPr>
        <p:spPr>
          <a:xfrm>
            <a:off x="15211043" y="2240280"/>
            <a:ext cx="7230618" cy="804672"/>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211043" y="2240280"/>
            <a:ext cx="91440" cy="804672"/>
          </a:xfrm>
          <a:prstGeom prst="rect">
            <a:avLst/>
          </a:prstGeom>
          <a:solidFill>
            <a:srgbClr val="D1A23E"/>
          </a:solidFill>
          <a:ln w="1143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439643" y="2340864"/>
            <a:ext cx="1143000" cy="493776"/>
          </a:xfrm>
          <a:prstGeom prst="rect">
            <a:avLst/>
          </a:prstGeom>
          <a:noFill/>
        </p:spPr>
        <p:txBody>
          <a:bodyPr wrap="square" lIns="0" rIns="0" tIns="0" bIns="0" anchor="ctr">
            <a:spAutoFit/>
          </a:bodyPr>
          <a:lstStyle/>
          <a:p>
            <a:pPr algn="l">
              <a:lnSpc>
                <a:spcPct val="100000"/>
              </a:lnSpc>
              <a:spcBef>
                <a:spcPts val="0"/>
              </a:spcBef>
              <a:spcAft>
                <a:spcPts val="350"/>
              </a:spcAft>
            </a:pPr>
            <a:r>
              <a:rPr sz="3000" b="1" i="0">
                <a:solidFill>
                  <a:srgbClr val="D1A23E"/>
                </a:solidFill>
                <a:latin typeface="Arial"/>
              </a:rPr>
              <a:t>5</a:t>
            </a:r>
          </a:p>
        </p:txBody>
      </p:sp>
      <p:sp>
        <p:nvSpPr>
          <p:cNvPr id="24" name="TextBox 23"/>
          <p:cNvSpPr txBox="1"/>
          <p:nvPr/>
        </p:nvSpPr>
        <p:spPr>
          <a:xfrm>
            <a:off x="16536923" y="2340864"/>
            <a:ext cx="5694426" cy="512064"/>
          </a:xfrm>
          <a:prstGeom prst="rect">
            <a:avLst/>
          </a:prstGeom>
          <a:noFill/>
        </p:spPr>
        <p:txBody>
          <a:bodyPr wrap="square" lIns="0" rIns="0" tIns="0" bIns="0" anchor="ctr">
            <a:spAutoFit/>
          </a:bodyPr>
          <a:lstStyle/>
          <a:p>
            <a:pPr algn="l">
              <a:lnSpc>
                <a:spcPct val="100000"/>
              </a:lnSpc>
              <a:spcBef>
                <a:spcPts val="0"/>
              </a:spcBef>
              <a:spcAft>
                <a:spcPts val="350"/>
              </a:spcAft>
            </a:pPr>
            <a:r>
              <a:rPr sz="1400" b="1" i="0">
                <a:solidFill>
                  <a:srgbClr val="233235"/>
                </a:solidFill>
                <a:latin typeface="Arial"/>
              </a:rPr>
              <a:t>workflow states</a:t>
            </a:r>
          </a:p>
        </p:txBody>
      </p:sp>
      <p:sp>
        <p:nvSpPr>
          <p:cNvPr id="25" name="Rounded Rectangle 24"/>
          <p:cNvSpPr/>
          <p:nvPr/>
        </p:nvSpPr>
        <p:spPr>
          <a:xfrm>
            <a:off x="22587965" y="2240280"/>
            <a:ext cx="7230618" cy="804672"/>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587965" y="2240280"/>
            <a:ext cx="91440" cy="804672"/>
          </a:xfrm>
          <a:prstGeom prst="rect">
            <a:avLst/>
          </a:prstGeom>
          <a:solidFill>
            <a:srgbClr val="718F78"/>
          </a:solidFill>
          <a:ln w="11430">
            <a:solidFill>
              <a:srgbClr val="71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816565" y="2340864"/>
            <a:ext cx="1143000" cy="493776"/>
          </a:xfrm>
          <a:prstGeom prst="rect">
            <a:avLst/>
          </a:prstGeom>
          <a:noFill/>
        </p:spPr>
        <p:txBody>
          <a:bodyPr wrap="square" lIns="0" rIns="0" tIns="0" bIns="0" anchor="ctr">
            <a:spAutoFit/>
          </a:bodyPr>
          <a:lstStyle/>
          <a:p>
            <a:pPr algn="l">
              <a:lnSpc>
                <a:spcPct val="100000"/>
              </a:lnSpc>
              <a:spcBef>
                <a:spcPts val="0"/>
              </a:spcBef>
              <a:spcAft>
                <a:spcPts val="350"/>
              </a:spcAft>
            </a:pPr>
            <a:r>
              <a:rPr sz="3000" b="1" i="0">
                <a:solidFill>
                  <a:srgbClr val="718F78"/>
                </a:solidFill>
                <a:latin typeface="Arial"/>
              </a:rPr>
              <a:t>3</a:t>
            </a:r>
          </a:p>
        </p:txBody>
      </p:sp>
      <p:sp>
        <p:nvSpPr>
          <p:cNvPr id="28" name="TextBox 27"/>
          <p:cNvSpPr txBox="1"/>
          <p:nvPr/>
        </p:nvSpPr>
        <p:spPr>
          <a:xfrm>
            <a:off x="23913845" y="2340864"/>
            <a:ext cx="5694426" cy="512064"/>
          </a:xfrm>
          <a:prstGeom prst="rect">
            <a:avLst/>
          </a:prstGeom>
          <a:noFill/>
        </p:spPr>
        <p:txBody>
          <a:bodyPr wrap="square" lIns="0" rIns="0" tIns="0" bIns="0" anchor="ctr">
            <a:spAutoFit/>
          </a:bodyPr>
          <a:lstStyle/>
          <a:p>
            <a:pPr algn="l">
              <a:lnSpc>
                <a:spcPct val="100000"/>
              </a:lnSpc>
              <a:spcBef>
                <a:spcPts val="0"/>
              </a:spcBef>
              <a:spcAft>
                <a:spcPts val="350"/>
              </a:spcAft>
            </a:pPr>
            <a:r>
              <a:rPr sz="1400" b="1" i="0">
                <a:solidFill>
                  <a:srgbClr val="233235"/>
                </a:solidFill>
                <a:latin typeface="Arial"/>
              </a:rPr>
              <a:t>time windows: 24h / 7d / 30d</a:t>
            </a:r>
          </a:p>
        </p:txBody>
      </p:sp>
      <p:sp>
        <p:nvSpPr>
          <p:cNvPr id="29" name="Rounded Rectangle 28"/>
          <p:cNvSpPr/>
          <p:nvPr/>
        </p:nvSpPr>
        <p:spPr>
          <a:xfrm>
            <a:off x="457200" y="3246120"/>
            <a:ext cx="9592056" cy="2606040"/>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246120"/>
            <a:ext cx="91440" cy="2606040"/>
          </a:xfrm>
          <a:prstGeom prst="rect">
            <a:avLst/>
          </a:prstGeom>
          <a:solidFill>
            <a:srgbClr val="C35D40"/>
          </a:solidFill>
          <a:ln w="1143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3374136"/>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C35D40"/>
                </a:solidFill>
                <a:latin typeface="Arial"/>
              </a:rPr>
              <a:t>WHY ROADWATCH?</a:t>
            </a:r>
          </a:p>
        </p:txBody>
      </p:sp>
      <p:sp>
        <p:nvSpPr>
          <p:cNvPr id="32" name="TextBox 31"/>
          <p:cNvSpPr txBox="1"/>
          <p:nvPr/>
        </p:nvSpPr>
        <p:spPr>
          <a:xfrm>
            <a:off x="731520" y="3858768"/>
            <a:ext cx="9070848" cy="1847088"/>
          </a:xfrm>
          <a:prstGeom prst="rect">
            <a:avLst/>
          </a:prstGeom>
          <a:noFill/>
        </p:spPr>
        <p:txBody>
          <a:bodyPr wrap="square" lIns="27432" rIns="27432" tIns="27432" bIns="27432">
            <a:spAutoFit/>
          </a:bodyPr>
          <a:lstStyle/>
          <a:p>
            <a:pPr algn="l">
              <a:lnSpc>
                <a:spcPct val="98000"/>
              </a:lnSpc>
              <a:spcBef>
                <a:spcPts val="0"/>
              </a:spcBef>
              <a:spcAft>
                <a:spcPts val="700"/>
              </a:spcAft>
            </a:pPr>
            <a:r>
              <a:rPr sz="1400" b="0" i="0">
                <a:solidFill>
                  <a:srgbClr val="435256"/>
                </a:solidFill>
                <a:latin typeface="Arial"/>
              </a:rPr>
              <a:t>Municipal road teams need to connect a defect’s place, severity and repair state. A map gives geography; a table gives record detail. Roadwatch brings both into one review workflow.</a:t>
            </a:r>
          </a:p>
          <a:p>
            <a:pPr algn="l">
              <a:lnSpc>
                <a:spcPct val="98000"/>
              </a:lnSpc>
              <a:spcBef>
                <a:spcPts val="0"/>
              </a:spcBef>
              <a:spcAft>
                <a:spcPts val="300"/>
              </a:spcAft>
            </a:pPr>
            <a:r>
              <a:rPr sz="1120" b="1" i="0">
                <a:solidFill>
                  <a:srgbClr val="C35D40"/>
                </a:solidFill>
                <a:latin typeface="Arial"/>
              </a:rPr>
              <a:t>KEY CONTRIBUTION</a:t>
            </a:r>
          </a:p>
          <a:p>
            <a:pPr algn="l">
              <a:lnSpc>
                <a:spcPct val="98000"/>
              </a:lnSpc>
              <a:spcBef>
                <a:spcPts val="0"/>
              </a:spcBef>
              <a:spcAft>
                <a:spcPts val="0"/>
              </a:spcAft>
            </a:pPr>
            <a:r>
              <a:rPr sz="1360" b="0" i="0">
                <a:solidFill>
                  <a:srgbClr val="233235"/>
                </a:solidFill>
                <a:latin typeface="Arial"/>
              </a:rPr>
              <a:t>• Shared map + table selection</a:t>
            </a:r>
            <a:br/>
            <a:r>
              <a:rPr sz="1360" b="0" i="0">
                <a:solidFill>
                  <a:srgbClr val="233235"/>
                </a:solidFill>
                <a:latin typeface="Arial"/>
              </a:rPr>
              <a:t>• Fast filtering and record triage</a:t>
            </a:r>
            <a:br/>
            <a:r>
              <a:rPr sz="1360" b="0" i="0">
                <a:solidFill>
                  <a:srgbClr val="233235"/>
                </a:solidFill>
                <a:latin typeface="Arial"/>
              </a:rPr>
              <a:t>• Summary KPIs for operational review</a:t>
            </a:r>
          </a:p>
        </p:txBody>
      </p:sp>
      <p:sp>
        <p:nvSpPr>
          <p:cNvPr id="33" name="Rounded Rectangle 32"/>
          <p:cNvSpPr/>
          <p:nvPr/>
        </p:nvSpPr>
        <p:spPr>
          <a:xfrm>
            <a:off x="457200" y="6016752"/>
            <a:ext cx="9592056" cy="3749039"/>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6016752"/>
            <a:ext cx="91440" cy="3749039"/>
          </a:xfrm>
          <a:prstGeom prst="rect">
            <a:avLst/>
          </a:prstGeom>
          <a:solidFill>
            <a:srgbClr val="2F7375"/>
          </a:solidFill>
          <a:ln w="1143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6144768"/>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2F7375"/>
                </a:solidFill>
                <a:latin typeface="Arial"/>
              </a:rPr>
              <a:t>WHAT IS IMPLEMENTED</a:t>
            </a:r>
          </a:p>
        </p:txBody>
      </p:sp>
      <p:sp>
        <p:nvSpPr>
          <p:cNvPr id="36" name="Rounded Rectangle 35"/>
          <p:cNvSpPr/>
          <p:nvPr/>
        </p:nvSpPr>
        <p:spPr>
          <a:xfrm>
            <a:off x="731520" y="6629400"/>
            <a:ext cx="4471416" cy="87782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50392" y="6766560"/>
            <a:ext cx="164592" cy="164592"/>
          </a:xfrm>
          <a:prstGeom prst="ellipse">
            <a:avLst/>
          </a:prstGeom>
          <a:solidFill>
            <a:srgbClr val="2F7375"/>
          </a:solidFill>
          <a:ln w="1016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6711696"/>
            <a:ext cx="3995927" cy="237744"/>
          </a:xfrm>
          <a:prstGeom prst="rect">
            <a:avLst/>
          </a:prstGeom>
          <a:noFill/>
        </p:spPr>
        <p:txBody>
          <a:bodyPr wrap="square" lIns="0" rIns="0" tIns="0" bIns="0" anchor="t">
            <a:spAutoFit/>
          </a:bodyPr>
          <a:lstStyle/>
          <a:p>
            <a:pPr algn="l">
              <a:lnSpc>
                <a:spcPct val="100000"/>
              </a:lnSpc>
              <a:spcBef>
                <a:spcPts val="0"/>
              </a:spcBef>
              <a:spcAft>
                <a:spcPts val="350"/>
              </a:spcAft>
            </a:pPr>
            <a:r>
              <a:rPr sz="1160" b="1" i="0">
                <a:solidFill>
                  <a:srgbClr val="2F7375"/>
                </a:solidFill>
                <a:latin typeface="Arial"/>
              </a:rPr>
              <a:t>MAP-FIRST VIEW</a:t>
            </a:r>
          </a:p>
        </p:txBody>
      </p:sp>
      <p:sp>
        <p:nvSpPr>
          <p:cNvPr id="39" name="TextBox 38"/>
          <p:cNvSpPr txBox="1"/>
          <p:nvPr/>
        </p:nvSpPr>
        <p:spPr>
          <a:xfrm>
            <a:off x="877824" y="6995160"/>
            <a:ext cx="4197096" cy="429768"/>
          </a:xfrm>
          <a:prstGeom prst="rect">
            <a:avLst/>
          </a:prstGeom>
          <a:noFill/>
        </p:spPr>
        <p:txBody>
          <a:bodyPr wrap="square" lIns="0" rIns="0" tIns="0" bIns="0" anchor="t">
            <a:spAutoFit/>
          </a:bodyPr>
          <a:lstStyle/>
          <a:p>
            <a:pPr algn="l">
              <a:lnSpc>
                <a:spcPct val="96000"/>
              </a:lnSpc>
              <a:spcBef>
                <a:spcPts val="0"/>
              </a:spcBef>
              <a:spcAft>
                <a:spcPts val="350"/>
              </a:spcAft>
            </a:pPr>
            <a:r>
              <a:rPr sz="1220" b="0" i="0">
                <a:solidFill>
                  <a:srgbClr val="233235"/>
                </a:solidFill>
                <a:latin typeface="Arial"/>
              </a:rPr>
              <a:t>Leaflet street basemap with severity-coded circle markers and pop-ups</a:t>
            </a:r>
          </a:p>
        </p:txBody>
      </p:sp>
      <p:sp>
        <p:nvSpPr>
          <p:cNvPr id="40" name="Rounded Rectangle 39"/>
          <p:cNvSpPr/>
          <p:nvPr/>
        </p:nvSpPr>
        <p:spPr>
          <a:xfrm>
            <a:off x="5330951" y="6629400"/>
            <a:ext cx="4471416" cy="87782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449823" y="6766560"/>
            <a:ext cx="164592" cy="164592"/>
          </a:xfrm>
          <a:prstGeom prst="ellipse">
            <a:avLst/>
          </a:prstGeom>
          <a:solidFill>
            <a:srgbClr val="718F78"/>
          </a:solidFill>
          <a:ln w="10160">
            <a:solidFill>
              <a:srgbClr val="71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696712" y="6711696"/>
            <a:ext cx="3995927" cy="237744"/>
          </a:xfrm>
          <a:prstGeom prst="rect">
            <a:avLst/>
          </a:prstGeom>
          <a:noFill/>
        </p:spPr>
        <p:txBody>
          <a:bodyPr wrap="square" lIns="0" rIns="0" tIns="0" bIns="0" anchor="t">
            <a:spAutoFit/>
          </a:bodyPr>
          <a:lstStyle/>
          <a:p>
            <a:pPr algn="l">
              <a:lnSpc>
                <a:spcPct val="100000"/>
              </a:lnSpc>
              <a:spcBef>
                <a:spcPts val="0"/>
              </a:spcBef>
              <a:spcAft>
                <a:spcPts val="350"/>
              </a:spcAft>
            </a:pPr>
            <a:r>
              <a:rPr sz="1160" b="1" i="0">
                <a:solidFill>
                  <a:srgbClr val="718F78"/>
                </a:solidFill>
                <a:latin typeface="Arial"/>
              </a:rPr>
              <a:t>LINKED RECORDS</a:t>
            </a:r>
          </a:p>
        </p:txBody>
      </p:sp>
      <p:sp>
        <p:nvSpPr>
          <p:cNvPr id="43" name="TextBox 42"/>
          <p:cNvSpPr txBox="1"/>
          <p:nvPr/>
        </p:nvSpPr>
        <p:spPr>
          <a:xfrm>
            <a:off x="5477255" y="6995160"/>
            <a:ext cx="4197096" cy="429768"/>
          </a:xfrm>
          <a:prstGeom prst="rect">
            <a:avLst/>
          </a:prstGeom>
          <a:noFill/>
        </p:spPr>
        <p:txBody>
          <a:bodyPr wrap="square" lIns="0" rIns="0" tIns="0" bIns="0" anchor="t">
            <a:spAutoFit/>
          </a:bodyPr>
          <a:lstStyle/>
          <a:p>
            <a:pPr algn="l">
              <a:lnSpc>
                <a:spcPct val="96000"/>
              </a:lnSpc>
              <a:spcBef>
                <a:spcPts val="0"/>
              </a:spcBef>
              <a:spcAft>
                <a:spcPts val="350"/>
              </a:spcAft>
            </a:pPr>
            <a:r>
              <a:rPr sz="1220" b="0" i="0">
                <a:solidFill>
                  <a:srgbClr val="233235"/>
                </a:solidFill>
                <a:latin typeface="Arial"/>
              </a:rPr>
              <a:t>Marker and table row open a shared detail view</a:t>
            </a:r>
          </a:p>
        </p:txBody>
      </p:sp>
      <p:sp>
        <p:nvSpPr>
          <p:cNvPr id="44" name="Rounded Rectangle 43"/>
          <p:cNvSpPr/>
          <p:nvPr/>
        </p:nvSpPr>
        <p:spPr>
          <a:xfrm>
            <a:off x="731520" y="7626096"/>
            <a:ext cx="4471416" cy="87782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50392" y="7763256"/>
            <a:ext cx="164592" cy="164592"/>
          </a:xfrm>
          <a:prstGeom prst="ellipse">
            <a:avLst/>
          </a:prstGeom>
          <a:solidFill>
            <a:srgbClr val="D1A23E"/>
          </a:solidFill>
          <a:ln w="1016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97280" y="7708392"/>
            <a:ext cx="3995927" cy="237744"/>
          </a:xfrm>
          <a:prstGeom prst="rect">
            <a:avLst/>
          </a:prstGeom>
          <a:noFill/>
        </p:spPr>
        <p:txBody>
          <a:bodyPr wrap="square" lIns="0" rIns="0" tIns="0" bIns="0" anchor="t">
            <a:spAutoFit/>
          </a:bodyPr>
          <a:lstStyle/>
          <a:p>
            <a:pPr algn="l">
              <a:lnSpc>
                <a:spcPct val="100000"/>
              </a:lnSpc>
              <a:spcBef>
                <a:spcPts val="0"/>
              </a:spcBef>
              <a:spcAft>
                <a:spcPts val="350"/>
              </a:spcAft>
            </a:pPr>
            <a:r>
              <a:rPr sz="1160" b="1" i="0">
                <a:solidFill>
                  <a:srgbClr val="D1A23E"/>
                </a:solidFill>
                <a:latin typeface="Arial"/>
              </a:rPr>
              <a:t>OPERATIONS FILTERS</a:t>
            </a:r>
          </a:p>
        </p:txBody>
      </p:sp>
      <p:sp>
        <p:nvSpPr>
          <p:cNvPr id="47" name="TextBox 46"/>
          <p:cNvSpPr txBox="1"/>
          <p:nvPr/>
        </p:nvSpPr>
        <p:spPr>
          <a:xfrm>
            <a:off x="877824" y="7991856"/>
            <a:ext cx="4197096" cy="429768"/>
          </a:xfrm>
          <a:prstGeom prst="rect">
            <a:avLst/>
          </a:prstGeom>
          <a:noFill/>
        </p:spPr>
        <p:txBody>
          <a:bodyPr wrap="square" lIns="0" rIns="0" tIns="0" bIns="0" anchor="t">
            <a:spAutoFit/>
          </a:bodyPr>
          <a:lstStyle/>
          <a:p>
            <a:pPr algn="l">
              <a:lnSpc>
                <a:spcPct val="96000"/>
              </a:lnSpc>
              <a:spcBef>
                <a:spcPts val="0"/>
              </a:spcBef>
              <a:spcAft>
                <a:spcPts val="350"/>
              </a:spcAft>
            </a:pPr>
            <a:r>
              <a:rPr sz="1220" b="0" i="0">
                <a:solidFill>
                  <a:srgbClr val="233235"/>
                </a:solidFill>
                <a:latin typeface="Arial"/>
              </a:rPr>
              <a:t>Search, sorting, severity/status chips and 24h / 7d / 30d ranges</a:t>
            </a:r>
          </a:p>
        </p:txBody>
      </p:sp>
      <p:sp>
        <p:nvSpPr>
          <p:cNvPr id="48" name="Rounded Rectangle 47"/>
          <p:cNvSpPr/>
          <p:nvPr/>
        </p:nvSpPr>
        <p:spPr>
          <a:xfrm>
            <a:off x="5330951" y="7626096"/>
            <a:ext cx="4471416" cy="87782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5449823" y="7763256"/>
            <a:ext cx="164592" cy="164592"/>
          </a:xfrm>
          <a:prstGeom prst="ellipse">
            <a:avLst/>
          </a:prstGeom>
          <a:solidFill>
            <a:srgbClr val="C35D40"/>
          </a:solidFill>
          <a:ln w="1016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96712" y="7708392"/>
            <a:ext cx="3995927" cy="237744"/>
          </a:xfrm>
          <a:prstGeom prst="rect">
            <a:avLst/>
          </a:prstGeom>
          <a:noFill/>
        </p:spPr>
        <p:txBody>
          <a:bodyPr wrap="square" lIns="0" rIns="0" tIns="0" bIns="0" anchor="t">
            <a:spAutoFit/>
          </a:bodyPr>
          <a:lstStyle/>
          <a:p>
            <a:pPr algn="l">
              <a:lnSpc>
                <a:spcPct val="100000"/>
              </a:lnSpc>
              <a:spcBef>
                <a:spcPts val="0"/>
              </a:spcBef>
              <a:spcAft>
                <a:spcPts val="350"/>
              </a:spcAft>
            </a:pPr>
            <a:r>
              <a:rPr sz="1160" b="1" i="0">
                <a:solidFill>
                  <a:srgbClr val="C35D40"/>
                </a:solidFill>
                <a:latin typeface="Arial"/>
              </a:rPr>
              <a:t>SUMMARY ANALYTICS</a:t>
            </a:r>
          </a:p>
        </p:txBody>
      </p:sp>
      <p:sp>
        <p:nvSpPr>
          <p:cNvPr id="51" name="TextBox 50"/>
          <p:cNvSpPr txBox="1"/>
          <p:nvPr/>
        </p:nvSpPr>
        <p:spPr>
          <a:xfrm>
            <a:off x="5477255" y="7991856"/>
            <a:ext cx="4197096" cy="429768"/>
          </a:xfrm>
          <a:prstGeom prst="rect">
            <a:avLst/>
          </a:prstGeom>
          <a:noFill/>
        </p:spPr>
        <p:txBody>
          <a:bodyPr wrap="square" lIns="0" rIns="0" tIns="0" bIns="0" anchor="t">
            <a:spAutoFit/>
          </a:bodyPr>
          <a:lstStyle/>
          <a:p>
            <a:pPr algn="l">
              <a:lnSpc>
                <a:spcPct val="96000"/>
              </a:lnSpc>
              <a:spcBef>
                <a:spcPts val="0"/>
              </a:spcBef>
              <a:spcAft>
                <a:spcPts val="350"/>
              </a:spcAft>
            </a:pPr>
            <a:r>
              <a:rPr sz="1220" b="0" i="0">
                <a:solidFill>
                  <a:srgbClr val="233235"/>
                </a:solidFill>
                <a:latin typeface="Arial"/>
              </a:rPr>
              <a:t>KPIs, severity mix, detection trend and mean record confidence</a:t>
            </a:r>
          </a:p>
        </p:txBody>
      </p:sp>
      <p:sp>
        <p:nvSpPr>
          <p:cNvPr id="52" name="TextBox 51"/>
          <p:cNvSpPr txBox="1"/>
          <p:nvPr/>
        </p:nvSpPr>
        <p:spPr>
          <a:xfrm>
            <a:off x="731520" y="8622792"/>
            <a:ext cx="2743200" cy="201168"/>
          </a:xfrm>
          <a:prstGeom prst="rect">
            <a:avLst/>
          </a:prstGeom>
          <a:noFill/>
        </p:spPr>
        <p:txBody>
          <a:bodyPr wrap="square" lIns="0" rIns="0" tIns="0" bIns="0" anchor="t">
            <a:spAutoFit/>
          </a:bodyPr>
          <a:lstStyle/>
          <a:p>
            <a:pPr algn="l">
              <a:lnSpc>
                <a:spcPct val="100000"/>
              </a:lnSpc>
              <a:spcBef>
                <a:spcPts val="0"/>
              </a:spcBef>
              <a:spcAft>
                <a:spcPts val="350"/>
              </a:spcAft>
            </a:pPr>
            <a:r>
              <a:rPr sz="1080" b="1" i="0">
                <a:solidFill>
                  <a:srgbClr val="6E7D80"/>
                </a:solidFill>
                <a:latin typeface="Arial"/>
              </a:rPr>
              <a:t>WORKFLOW STATES</a:t>
            </a:r>
          </a:p>
        </p:txBody>
      </p:sp>
      <p:sp>
        <p:nvSpPr>
          <p:cNvPr id="53" name="Rounded Rectangle 52"/>
          <p:cNvSpPr/>
          <p:nvPr/>
        </p:nvSpPr>
        <p:spPr>
          <a:xfrm>
            <a:off x="731520" y="8878824"/>
            <a:ext cx="1755648" cy="384048"/>
          </a:xfrm>
          <a:prstGeom prst="roundRect">
            <a:avLst>
              <a:gd name="adj" fmla="val 8000"/>
            </a:avLst>
          </a:prstGeom>
          <a:solidFill>
            <a:srgbClr val="E3E4E7"/>
          </a:solidFill>
          <a:ln w="11430">
            <a:solidFill>
              <a:srgbClr val="E3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8887968"/>
            <a:ext cx="166420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19" b="1" i="0">
                <a:solidFill>
                  <a:srgbClr val="58636D"/>
                </a:solidFill>
                <a:latin typeface="Arial"/>
              </a:rPr>
              <a:t>NEW</a:t>
            </a:r>
          </a:p>
        </p:txBody>
      </p:sp>
      <p:sp>
        <p:nvSpPr>
          <p:cNvPr id="55" name="Rounded Rectangle 54"/>
          <p:cNvSpPr/>
          <p:nvPr/>
        </p:nvSpPr>
        <p:spPr>
          <a:xfrm>
            <a:off x="2560320" y="8878824"/>
            <a:ext cx="1755648" cy="384048"/>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06039" y="8887968"/>
            <a:ext cx="166420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19" b="1" i="0">
                <a:solidFill>
                  <a:srgbClr val="2F7375"/>
                </a:solidFill>
                <a:latin typeface="Arial"/>
              </a:rPr>
              <a:t>IN REVIEW</a:t>
            </a:r>
          </a:p>
        </p:txBody>
      </p:sp>
      <p:sp>
        <p:nvSpPr>
          <p:cNvPr id="57" name="Rounded Rectangle 56"/>
          <p:cNvSpPr/>
          <p:nvPr/>
        </p:nvSpPr>
        <p:spPr>
          <a:xfrm>
            <a:off x="4389120" y="8878824"/>
            <a:ext cx="1755648" cy="384048"/>
          </a:xfrm>
          <a:prstGeom prst="roundRect">
            <a:avLst>
              <a:gd name="adj" fmla="val 8000"/>
            </a:avLst>
          </a:prstGeom>
          <a:solidFill>
            <a:srgbClr val="E2EAF2"/>
          </a:solidFill>
          <a:ln w="1143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434840" y="8887968"/>
            <a:ext cx="166420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19" b="1" i="0">
                <a:solidFill>
                  <a:srgbClr val="456C91"/>
                </a:solidFill>
                <a:latin typeface="Arial"/>
              </a:rPr>
              <a:t>SCHEDULED</a:t>
            </a:r>
          </a:p>
        </p:txBody>
      </p:sp>
      <p:sp>
        <p:nvSpPr>
          <p:cNvPr id="59" name="Rounded Rectangle 58"/>
          <p:cNvSpPr/>
          <p:nvPr/>
        </p:nvSpPr>
        <p:spPr>
          <a:xfrm>
            <a:off x="6217920" y="8878824"/>
            <a:ext cx="1755648" cy="384048"/>
          </a:xfrm>
          <a:prstGeom prst="roundRect">
            <a:avLst>
              <a:gd name="adj" fmla="val 8000"/>
            </a:avLst>
          </a:prstGeom>
          <a:solidFill>
            <a:srgbClr val="E4ECE2"/>
          </a:solidFill>
          <a:ln w="11430">
            <a:solidFill>
              <a:srgbClr val="E4E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63640" y="8887968"/>
            <a:ext cx="166420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19" b="1" i="0">
                <a:solidFill>
                  <a:srgbClr val="718F78"/>
                </a:solidFill>
                <a:latin typeface="Arial"/>
              </a:rPr>
              <a:t>REPAIRED</a:t>
            </a:r>
          </a:p>
        </p:txBody>
      </p:sp>
      <p:sp>
        <p:nvSpPr>
          <p:cNvPr id="61" name="Rounded Rectangle 60"/>
          <p:cNvSpPr/>
          <p:nvPr/>
        </p:nvSpPr>
        <p:spPr>
          <a:xfrm>
            <a:off x="8046720" y="8878824"/>
            <a:ext cx="1755648" cy="384048"/>
          </a:xfrm>
          <a:prstGeom prst="roundRect">
            <a:avLst>
              <a:gd name="adj" fmla="val 8000"/>
            </a:avLst>
          </a:prstGeom>
          <a:solidFill>
            <a:srgbClr val="E7E8EA"/>
          </a:solidFill>
          <a:ln w="11430">
            <a:solidFill>
              <a:srgbClr val="E7E8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092440" y="8887968"/>
            <a:ext cx="166420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19" b="1" i="0">
                <a:solidFill>
                  <a:srgbClr val="747B80"/>
                </a:solidFill>
                <a:latin typeface="Arial"/>
              </a:rPr>
              <a:t>DISMISSED</a:t>
            </a:r>
          </a:p>
        </p:txBody>
      </p:sp>
      <p:sp>
        <p:nvSpPr>
          <p:cNvPr id="63" name="TextBox 62"/>
          <p:cNvSpPr txBox="1"/>
          <p:nvPr/>
        </p:nvSpPr>
        <p:spPr>
          <a:xfrm>
            <a:off x="731520" y="9354312"/>
            <a:ext cx="9070848" cy="274320"/>
          </a:xfrm>
          <a:prstGeom prst="rect">
            <a:avLst/>
          </a:prstGeom>
          <a:noFill/>
        </p:spPr>
        <p:txBody>
          <a:bodyPr wrap="square" lIns="0" rIns="0" tIns="0" bIns="0" anchor="t">
            <a:spAutoFit/>
          </a:bodyPr>
          <a:lstStyle/>
          <a:p>
            <a:pPr algn="l">
              <a:lnSpc>
                <a:spcPct val="100000"/>
              </a:lnSpc>
              <a:spcBef>
                <a:spcPts val="0"/>
              </a:spcBef>
              <a:spcAft>
                <a:spcPts val="350"/>
              </a:spcAft>
            </a:pPr>
            <a:r>
              <a:rPr sz="1170" b="0" i="0">
                <a:solidFill>
                  <a:srgbClr val="6E7D80"/>
                </a:solidFill>
                <a:latin typeface="Arial"/>
              </a:rPr>
              <a:t>Browser-side record state; centralized persistence is a next integration.</a:t>
            </a:r>
          </a:p>
        </p:txBody>
      </p:sp>
      <p:sp>
        <p:nvSpPr>
          <p:cNvPr id="64" name="Rounded Rectangle 63"/>
          <p:cNvSpPr/>
          <p:nvPr/>
        </p:nvSpPr>
        <p:spPr>
          <a:xfrm>
            <a:off x="457200" y="9930384"/>
            <a:ext cx="9592056" cy="3794760"/>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57200" y="9930384"/>
            <a:ext cx="91440" cy="3794760"/>
          </a:xfrm>
          <a:prstGeom prst="rect">
            <a:avLst/>
          </a:prstGeom>
          <a:solidFill>
            <a:srgbClr val="D1A23E"/>
          </a:solidFill>
          <a:ln w="1143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3232" y="10058400"/>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D1A23E"/>
                </a:solidFill>
                <a:latin typeface="Arial"/>
              </a:rPr>
              <a:t>DATA MODEL &amp; OPERATIONAL LABELS</a:t>
            </a:r>
          </a:p>
        </p:txBody>
      </p:sp>
      <p:sp>
        <p:nvSpPr>
          <p:cNvPr id="67" name="TextBox 66"/>
          <p:cNvSpPr txBox="1"/>
          <p:nvPr/>
        </p:nvSpPr>
        <p:spPr>
          <a:xfrm>
            <a:off x="731520" y="10543032"/>
            <a:ext cx="9070848" cy="621792"/>
          </a:xfrm>
          <a:prstGeom prst="rect">
            <a:avLst/>
          </a:prstGeom>
          <a:noFill/>
        </p:spPr>
        <p:txBody>
          <a:bodyPr wrap="square" lIns="0" rIns="0" tIns="0" bIns="0" anchor="t">
            <a:spAutoFit/>
          </a:bodyPr>
          <a:lstStyle/>
          <a:p>
            <a:pPr algn="l">
              <a:lnSpc>
                <a:spcPct val="98000"/>
              </a:lnSpc>
              <a:spcBef>
                <a:spcPts val="0"/>
              </a:spcBef>
              <a:spcAft>
                <a:spcPts val="350"/>
              </a:spcAft>
            </a:pPr>
            <a:r>
              <a:rPr sz="1320" b="0" i="0">
                <a:solidFill>
                  <a:srgbClr val="233235"/>
                </a:solidFill>
                <a:latin typeface="Arial"/>
              </a:rPr>
              <a:t>Each record can carry: ID • road / area • latitude &amp; longitude • severity • confidence • detection time • status • assigned crew • depth / width.</a:t>
            </a:r>
          </a:p>
        </p:txBody>
      </p:sp>
      <p:sp>
        <p:nvSpPr>
          <p:cNvPr id="68" name="TextBox 67"/>
          <p:cNvSpPr txBox="1"/>
          <p:nvPr/>
        </p:nvSpPr>
        <p:spPr>
          <a:xfrm>
            <a:off x="731520" y="11274552"/>
            <a:ext cx="9070848" cy="201168"/>
          </a:xfrm>
          <a:prstGeom prst="rect">
            <a:avLst/>
          </a:prstGeom>
          <a:noFill/>
        </p:spPr>
        <p:txBody>
          <a:bodyPr wrap="square" lIns="0" rIns="0" tIns="0" bIns="0" anchor="t">
            <a:spAutoFit/>
          </a:bodyPr>
          <a:lstStyle/>
          <a:p>
            <a:pPr algn="l">
              <a:lnSpc>
                <a:spcPct val="100000"/>
              </a:lnSpc>
              <a:spcBef>
                <a:spcPts val="0"/>
              </a:spcBef>
              <a:spcAft>
                <a:spcPts val="350"/>
              </a:spcAft>
            </a:pPr>
            <a:r>
              <a:rPr sz="1080" b="1" i="0">
                <a:solidFill>
                  <a:srgbClr val="6E7D80"/>
                </a:solidFill>
                <a:latin typeface="Arial"/>
              </a:rPr>
              <a:t>SEVERITY</a:t>
            </a:r>
          </a:p>
        </p:txBody>
      </p:sp>
      <p:sp>
        <p:nvSpPr>
          <p:cNvPr id="69" name="Rounded Rectangle 68"/>
          <p:cNvSpPr/>
          <p:nvPr/>
        </p:nvSpPr>
        <p:spPr>
          <a:xfrm>
            <a:off x="731520" y="11530584"/>
            <a:ext cx="2185416" cy="402336"/>
          </a:xfrm>
          <a:prstGeom prst="roundRect">
            <a:avLst>
              <a:gd name="adj" fmla="val 8000"/>
            </a:avLst>
          </a:prstGeom>
          <a:solidFill>
            <a:srgbClr val="E4ECE2"/>
          </a:solidFill>
          <a:ln w="11430">
            <a:solidFill>
              <a:srgbClr val="E4E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7240" y="11539728"/>
            <a:ext cx="2093976" cy="384048"/>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6E8B74"/>
                </a:solidFill>
                <a:latin typeface="Arial"/>
              </a:rPr>
              <a:t>MINOR</a:t>
            </a:r>
          </a:p>
        </p:txBody>
      </p:sp>
      <p:sp>
        <p:nvSpPr>
          <p:cNvPr id="71" name="Rounded Rectangle 70"/>
          <p:cNvSpPr/>
          <p:nvPr/>
        </p:nvSpPr>
        <p:spPr>
          <a:xfrm>
            <a:off x="3026664" y="11530584"/>
            <a:ext cx="2185416" cy="402336"/>
          </a:xfrm>
          <a:prstGeom prst="roundRect">
            <a:avLst>
              <a:gd name="adj" fmla="val 8000"/>
            </a:avLst>
          </a:prstGeom>
          <a:solidFill>
            <a:srgbClr val="F5EACB"/>
          </a:solidFill>
          <a:ln w="11430">
            <a:solidFill>
              <a:srgbClr val="F5E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072384" y="11539728"/>
            <a:ext cx="2093976" cy="384048"/>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BE9540"/>
                </a:solidFill>
                <a:latin typeface="Arial"/>
              </a:rPr>
              <a:t>MODERATE</a:t>
            </a:r>
          </a:p>
        </p:txBody>
      </p:sp>
      <p:sp>
        <p:nvSpPr>
          <p:cNvPr id="73" name="Rounded Rectangle 72"/>
          <p:cNvSpPr/>
          <p:nvPr/>
        </p:nvSpPr>
        <p:spPr>
          <a:xfrm>
            <a:off x="5321808" y="11530584"/>
            <a:ext cx="2185416" cy="402336"/>
          </a:xfrm>
          <a:prstGeom prst="roundRect">
            <a:avLst>
              <a:gd name="adj" fmla="val 8000"/>
            </a:avLst>
          </a:prstGeom>
          <a:solidFill>
            <a:srgbClr val="F4E2DC"/>
          </a:solidFill>
          <a:ln w="11430">
            <a:solidFill>
              <a:srgbClr val="F4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367528" y="11539728"/>
            <a:ext cx="2093976" cy="384048"/>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B4593B"/>
                </a:solidFill>
                <a:latin typeface="Arial"/>
              </a:rPr>
              <a:t>SEVERE</a:t>
            </a:r>
          </a:p>
        </p:txBody>
      </p:sp>
      <p:sp>
        <p:nvSpPr>
          <p:cNvPr id="75" name="Rounded Rectangle 74"/>
          <p:cNvSpPr/>
          <p:nvPr/>
        </p:nvSpPr>
        <p:spPr>
          <a:xfrm>
            <a:off x="7616952" y="11530584"/>
            <a:ext cx="2185416" cy="402336"/>
          </a:xfrm>
          <a:prstGeom prst="roundRect">
            <a:avLst>
              <a:gd name="adj" fmla="val 8000"/>
            </a:avLst>
          </a:prstGeom>
          <a:solidFill>
            <a:srgbClr val="F0DCD7"/>
          </a:solidFill>
          <a:ln w="11430">
            <a:solidFill>
              <a:srgbClr val="F0DC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662672" y="11539728"/>
            <a:ext cx="2093976" cy="384048"/>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8C3A2E"/>
                </a:solidFill>
                <a:latin typeface="Arial"/>
              </a:rPr>
              <a:t>CRITICAL</a:t>
            </a:r>
          </a:p>
        </p:txBody>
      </p:sp>
      <p:sp>
        <p:nvSpPr>
          <p:cNvPr id="77" name="TextBox 76"/>
          <p:cNvSpPr txBox="1"/>
          <p:nvPr/>
        </p:nvSpPr>
        <p:spPr>
          <a:xfrm>
            <a:off x="731520" y="12079224"/>
            <a:ext cx="9070848" cy="201168"/>
          </a:xfrm>
          <a:prstGeom prst="rect">
            <a:avLst/>
          </a:prstGeom>
          <a:noFill/>
        </p:spPr>
        <p:txBody>
          <a:bodyPr wrap="square" lIns="0" rIns="0" tIns="0" bIns="0" anchor="t">
            <a:spAutoFit/>
          </a:bodyPr>
          <a:lstStyle/>
          <a:p>
            <a:pPr algn="l">
              <a:lnSpc>
                <a:spcPct val="100000"/>
              </a:lnSpc>
              <a:spcBef>
                <a:spcPts val="0"/>
              </a:spcBef>
              <a:spcAft>
                <a:spcPts val="350"/>
              </a:spcAft>
            </a:pPr>
            <a:r>
              <a:rPr sz="1080" b="1" i="0">
                <a:solidFill>
                  <a:srgbClr val="6E7D80"/>
                </a:solidFill>
                <a:latin typeface="Arial"/>
              </a:rPr>
              <a:t>WORKFLOW STATUS</a:t>
            </a:r>
          </a:p>
        </p:txBody>
      </p:sp>
      <p:sp>
        <p:nvSpPr>
          <p:cNvPr id="78" name="Rounded Rectangle 77"/>
          <p:cNvSpPr/>
          <p:nvPr/>
        </p:nvSpPr>
        <p:spPr>
          <a:xfrm>
            <a:off x="731520" y="12335255"/>
            <a:ext cx="1741017" cy="384048"/>
          </a:xfrm>
          <a:prstGeom prst="roundRect">
            <a:avLst>
              <a:gd name="adj" fmla="val 8000"/>
            </a:avLst>
          </a:prstGeom>
          <a:solidFill>
            <a:srgbClr val="E3E4E7"/>
          </a:solidFill>
          <a:ln w="11430">
            <a:solidFill>
              <a:srgbClr val="E3E4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77240" y="12344399"/>
            <a:ext cx="164957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58636D"/>
                </a:solidFill>
                <a:latin typeface="Arial"/>
              </a:rPr>
              <a:t>New</a:t>
            </a:r>
          </a:p>
        </p:txBody>
      </p:sp>
      <p:sp>
        <p:nvSpPr>
          <p:cNvPr id="80" name="Rounded Rectangle 79"/>
          <p:cNvSpPr/>
          <p:nvPr/>
        </p:nvSpPr>
        <p:spPr>
          <a:xfrm>
            <a:off x="2563977" y="12335255"/>
            <a:ext cx="1741017" cy="384048"/>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609697" y="12344399"/>
            <a:ext cx="164957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2F7375"/>
                </a:solidFill>
                <a:latin typeface="Arial"/>
              </a:rPr>
              <a:t>In review</a:t>
            </a:r>
          </a:p>
        </p:txBody>
      </p:sp>
      <p:sp>
        <p:nvSpPr>
          <p:cNvPr id="82" name="Rounded Rectangle 81"/>
          <p:cNvSpPr/>
          <p:nvPr/>
        </p:nvSpPr>
        <p:spPr>
          <a:xfrm>
            <a:off x="4396435" y="12335255"/>
            <a:ext cx="1741017" cy="384048"/>
          </a:xfrm>
          <a:prstGeom prst="roundRect">
            <a:avLst>
              <a:gd name="adj" fmla="val 8000"/>
            </a:avLst>
          </a:prstGeom>
          <a:solidFill>
            <a:srgbClr val="E2EAF2"/>
          </a:solidFill>
          <a:ln w="1143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442155" y="12344399"/>
            <a:ext cx="164957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456C91"/>
                </a:solidFill>
                <a:latin typeface="Arial"/>
              </a:rPr>
              <a:t>Scheduled</a:t>
            </a:r>
          </a:p>
        </p:txBody>
      </p:sp>
      <p:sp>
        <p:nvSpPr>
          <p:cNvPr id="84" name="Rounded Rectangle 83"/>
          <p:cNvSpPr/>
          <p:nvPr/>
        </p:nvSpPr>
        <p:spPr>
          <a:xfrm>
            <a:off x="6228892" y="12335255"/>
            <a:ext cx="1741017" cy="384048"/>
          </a:xfrm>
          <a:prstGeom prst="roundRect">
            <a:avLst>
              <a:gd name="adj" fmla="val 8000"/>
            </a:avLst>
          </a:prstGeom>
          <a:solidFill>
            <a:srgbClr val="E4ECE2"/>
          </a:solidFill>
          <a:ln w="11430">
            <a:solidFill>
              <a:srgbClr val="E4E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274612" y="12344399"/>
            <a:ext cx="164957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718F78"/>
                </a:solidFill>
                <a:latin typeface="Arial"/>
              </a:rPr>
              <a:t>Repaired</a:t>
            </a:r>
          </a:p>
        </p:txBody>
      </p:sp>
      <p:sp>
        <p:nvSpPr>
          <p:cNvPr id="86" name="Rounded Rectangle 85"/>
          <p:cNvSpPr/>
          <p:nvPr/>
        </p:nvSpPr>
        <p:spPr>
          <a:xfrm>
            <a:off x="8061350" y="12335255"/>
            <a:ext cx="1741017" cy="384048"/>
          </a:xfrm>
          <a:prstGeom prst="roundRect">
            <a:avLst>
              <a:gd name="adj" fmla="val 8000"/>
            </a:avLst>
          </a:prstGeom>
          <a:solidFill>
            <a:srgbClr val="E7E8EA"/>
          </a:solidFill>
          <a:ln w="11430">
            <a:solidFill>
              <a:srgbClr val="E7E8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107070" y="12344399"/>
            <a:ext cx="1649577" cy="365759"/>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747B80"/>
                </a:solidFill>
                <a:latin typeface="Arial"/>
              </a:rPr>
              <a:t>Dismissed</a:t>
            </a:r>
          </a:p>
        </p:txBody>
      </p:sp>
      <p:sp>
        <p:nvSpPr>
          <p:cNvPr id="88" name="Rounded Rectangle 87"/>
          <p:cNvSpPr/>
          <p:nvPr/>
        </p:nvSpPr>
        <p:spPr>
          <a:xfrm>
            <a:off x="731520" y="12874751"/>
            <a:ext cx="9070848" cy="777240"/>
          </a:xfrm>
          <a:prstGeom prst="roundRect">
            <a:avLst>
              <a:gd name="adj" fmla="val 8000"/>
            </a:avLst>
          </a:prstGeom>
          <a:solidFill>
            <a:srgbClr val="F5EACB"/>
          </a:solidFill>
          <a:ln w="11430">
            <a:solidFill>
              <a:srgbClr val="F5E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8680" y="12947904"/>
            <a:ext cx="8796528" cy="640080"/>
          </a:xfrm>
          <a:prstGeom prst="rect">
            <a:avLst/>
          </a:prstGeom>
          <a:noFill/>
        </p:spPr>
        <p:txBody>
          <a:bodyPr wrap="square" lIns="18288" rIns="18288" tIns="18288" bIns="18288" anchor="t">
            <a:spAutoFit/>
          </a:bodyPr>
          <a:lstStyle/>
          <a:p>
            <a:pPr algn="l">
              <a:lnSpc>
                <a:spcPct val="96000"/>
              </a:lnSpc>
              <a:spcBef>
                <a:spcPts val="0"/>
              </a:spcBef>
              <a:spcAft>
                <a:spcPts val="350"/>
              </a:spcAft>
            </a:pPr>
            <a:r>
              <a:rPr sz="1240" b="0" i="0">
                <a:solidFill>
                  <a:srgbClr val="233235"/>
                </a:solidFill>
                <a:latin typeface="Arial"/>
              </a:rPr>
              <a:t>DATA QUALITY RULE: require a coordinate source and timestamp; preserve confidence provenance; record depth / width units; flag missing or implausible values for review.</a:t>
            </a:r>
          </a:p>
        </p:txBody>
      </p:sp>
      <p:sp>
        <p:nvSpPr>
          <p:cNvPr id="90" name="Rounded Rectangle 89"/>
          <p:cNvSpPr/>
          <p:nvPr/>
        </p:nvSpPr>
        <p:spPr>
          <a:xfrm>
            <a:off x="457200" y="13889736"/>
            <a:ext cx="9592056" cy="5952744"/>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57200" y="13889736"/>
            <a:ext cx="91440" cy="5952744"/>
          </a:xfrm>
          <a:prstGeom prst="rect">
            <a:avLst/>
          </a:prstGeom>
          <a:solidFill>
            <a:srgbClr val="C35D40"/>
          </a:solidFill>
          <a:ln w="1143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713232" y="14017752"/>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C35D40"/>
                </a:solidFill>
                <a:latin typeface="Arial"/>
              </a:rPr>
              <a:t>CURRENT BOUNDARY &amp; DATA SAFEGUARDS</a:t>
            </a:r>
          </a:p>
        </p:txBody>
      </p:sp>
      <p:sp>
        <p:nvSpPr>
          <p:cNvPr id="93" name="Rounded Rectangle 92"/>
          <p:cNvSpPr/>
          <p:nvPr/>
        </p:nvSpPr>
        <p:spPr>
          <a:xfrm>
            <a:off x="731520" y="14502384"/>
            <a:ext cx="4453128" cy="2487168"/>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5349240" y="14502384"/>
            <a:ext cx="4453128" cy="2487168"/>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77824" y="14621256"/>
            <a:ext cx="4178808" cy="237744"/>
          </a:xfrm>
          <a:prstGeom prst="rect">
            <a:avLst/>
          </a:prstGeom>
          <a:noFill/>
        </p:spPr>
        <p:txBody>
          <a:bodyPr wrap="square" lIns="0" rIns="0" tIns="0" bIns="0" anchor="t">
            <a:spAutoFit/>
          </a:bodyPr>
          <a:lstStyle/>
          <a:p>
            <a:pPr algn="l">
              <a:lnSpc>
                <a:spcPct val="100000"/>
              </a:lnSpc>
              <a:spcBef>
                <a:spcPts val="0"/>
              </a:spcBef>
              <a:spcAft>
                <a:spcPts val="350"/>
              </a:spcAft>
            </a:pPr>
            <a:r>
              <a:rPr sz="1140" b="1" i="0">
                <a:solidFill>
                  <a:srgbClr val="2F7375"/>
                </a:solidFill>
                <a:latin typeface="Arial"/>
              </a:rPr>
              <a:t>PRESENT IN THE BUILD</a:t>
            </a:r>
          </a:p>
        </p:txBody>
      </p:sp>
      <p:sp>
        <p:nvSpPr>
          <p:cNvPr id="96" name="TextBox 95"/>
          <p:cNvSpPr txBox="1"/>
          <p:nvPr/>
        </p:nvSpPr>
        <p:spPr>
          <a:xfrm>
            <a:off x="877824" y="14941296"/>
            <a:ext cx="4178808" cy="1901952"/>
          </a:xfrm>
          <a:prstGeom prst="rect">
            <a:avLst/>
          </a:prstGeom>
          <a:noFill/>
        </p:spPr>
        <p:txBody>
          <a:bodyPr wrap="square" lIns="0" rIns="0" tIns="0" bIns="0" anchor="t">
            <a:spAutoFit/>
          </a:bodyPr>
          <a:lstStyle/>
          <a:p>
            <a:pPr algn="l">
              <a:lnSpc>
                <a:spcPct val="95000"/>
              </a:lnSpc>
              <a:spcBef>
                <a:spcPts val="0"/>
              </a:spcBef>
              <a:spcAft>
                <a:spcPts val="350"/>
              </a:spcAft>
            </a:pPr>
            <a:r>
              <a:rPr sz="1240" b="0" i="0">
                <a:solidFill>
                  <a:srgbClr val="233235"/>
                </a:solidFill>
                <a:latin typeface="Arial"/>
              </a:rPr>
              <a:t>• Responsive HTML/CSS interface</a:t>
            </a:r>
          </a:p>
          <a:p>
            <a:pPr algn="l">
              <a:lnSpc>
                <a:spcPct val="95000"/>
              </a:lnSpc>
              <a:spcBef>
                <a:spcPts val="0"/>
              </a:spcBef>
              <a:spcAft>
                <a:spcPts val="350"/>
              </a:spcAft>
            </a:pPr>
            <a:r>
              <a:rPr sz="1240" b="0" i="0">
                <a:solidFill>
                  <a:srgbClr val="233235"/>
                </a:solidFill>
                <a:latin typeface="Arial"/>
              </a:rPr>
              <a:t>• JavaScript record + filter state</a:t>
            </a:r>
          </a:p>
          <a:p>
            <a:pPr algn="l">
              <a:lnSpc>
                <a:spcPct val="95000"/>
              </a:lnSpc>
              <a:spcBef>
                <a:spcPts val="0"/>
              </a:spcBef>
              <a:spcAft>
                <a:spcPts val="350"/>
              </a:spcAft>
            </a:pPr>
            <a:r>
              <a:rPr sz="1240" b="0" i="0">
                <a:solidFill>
                  <a:srgbClr val="233235"/>
                </a:solidFill>
                <a:latin typeface="Arial"/>
              </a:rPr>
              <a:t>• Leaflet + CARTO street basemap</a:t>
            </a:r>
          </a:p>
          <a:p>
            <a:pPr algn="l">
              <a:lnSpc>
                <a:spcPct val="95000"/>
              </a:lnSpc>
              <a:spcBef>
                <a:spcPts val="0"/>
              </a:spcBef>
              <a:spcAft>
                <a:spcPts val="350"/>
              </a:spcAft>
            </a:pPr>
            <a:r>
              <a:rPr sz="1240" b="0" i="0">
                <a:solidFill>
                  <a:srgbClr val="233235"/>
                </a:solidFill>
                <a:latin typeface="Arial"/>
              </a:rPr>
              <a:t>• OSM map attribution</a:t>
            </a:r>
          </a:p>
          <a:p>
            <a:pPr algn="l">
              <a:lnSpc>
                <a:spcPct val="95000"/>
              </a:lnSpc>
              <a:spcBef>
                <a:spcPts val="0"/>
              </a:spcBef>
              <a:spcAft>
                <a:spcPts val="350"/>
              </a:spcAft>
            </a:pPr>
            <a:r>
              <a:rPr sz="1240" b="0" i="0">
                <a:solidFill>
                  <a:srgbClr val="233235"/>
                </a:solidFill>
                <a:latin typeface="Arial"/>
              </a:rPr>
              <a:t>• Search, sort, KPI and detail drawer</a:t>
            </a:r>
          </a:p>
          <a:p>
            <a:pPr algn="l">
              <a:lnSpc>
                <a:spcPct val="95000"/>
              </a:lnSpc>
              <a:spcBef>
                <a:spcPts val="0"/>
              </a:spcBef>
              <a:spcAft>
                <a:spcPts val="350"/>
              </a:spcAft>
            </a:pPr>
            <a:r>
              <a:rPr sz="1240" b="0" i="0">
                <a:solidFill>
                  <a:srgbClr val="233235"/>
                </a:solidFill>
                <a:latin typeface="Arial"/>
              </a:rPr>
              <a:t>• Severity / status actions</a:t>
            </a:r>
          </a:p>
        </p:txBody>
      </p:sp>
      <p:sp>
        <p:nvSpPr>
          <p:cNvPr id="97" name="TextBox 96"/>
          <p:cNvSpPr txBox="1"/>
          <p:nvPr/>
        </p:nvSpPr>
        <p:spPr>
          <a:xfrm>
            <a:off x="5495544" y="14621256"/>
            <a:ext cx="4178808" cy="237744"/>
          </a:xfrm>
          <a:prstGeom prst="rect">
            <a:avLst/>
          </a:prstGeom>
          <a:noFill/>
        </p:spPr>
        <p:txBody>
          <a:bodyPr wrap="square" lIns="0" rIns="0" tIns="0" bIns="0" anchor="t">
            <a:spAutoFit/>
          </a:bodyPr>
          <a:lstStyle/>
          <a:p>
            <a:pPr algn="l">
              <a:lnSpc>
                <a:spcPct val="100000"/>
              </a:lnSpc>
              <a:spcBef>
                <a:spcPts val="0"/>
              </a:spcBef>
              <a:spcAft>
                <a:spcPts val="350"/>
              </a:spcAft>
            </a:pPr>
            <a:r>
              <a:rPr sz="1140" b="1" i="0">
                <a:solidFill>
                  <a:srgbClr val="C35D40"/>
                </a:solidFill>
                <a:latin typeface="Arial"/>
              </a:rPr>
              <a:t>NOT YET CONNECTED</a:t>
            </a:r>
          </a:p>
        </p:txBody>
      </p:sp>
      <p:sp>
        <p:nvSpPr>
          <p:cNvPr id="98" name="TextBox 97"/>
          <p:cNvSpPr txBox="1"/>
          <p:nvPr/>
        </p:nvSpPr>
        <p:spPr>
          <a:xfrm>
            <a:off x="5495544" y="14941296"/>
            <a:ext cx="4178808" cy="1901952"/>
          </a:xfrm>
          <a:prstGeom prst="rect">
            <a:avLst/>
          </a:prstGeom>
          <a:noFill/>
        </p:spPr>
        <p:txBody>
          <a:bodyPr wrap="square" lIns="0" rIns="0" tIns="0" bIns="0" anchor="t">
            <a:spAutoFit/>
          </a:bodyPr>
          <a:lstStyle/>
          <a:p>
            <a:pPr algn="l">
              <a:lnSpc>
                <a:spcPct val="95000"/>
              </a:lnSpc>
              <a:spcBef>
                <a:spcPts val="0"/>
              </a:spcBef>
              <a:spcAft>
                <a:spcPts val="350"/>
              </a:spcAft>
            </a:pPr>
            <a:r>
              <a:rPr sz="1240" b="0" i="0">
                <a:solidFill>
                  <a:srgbClr val="233235"/>
                </a:solidFill>
                <a:latin typeface="Arial"/>
              </a:rPr>
              <a:t>• Embedded vision inference</a:t>
            </a:r>
          </a:p>
          <a:p>
            <a:pPr algn="l">
              <a:lnSpc>
                <a:spcPct val="95000"/>
              </a:lnSpc>
              <a:spcBef>
                <a:spcPts val="0"/>
              </a:spcBef>
              <a:spcAft>
                <a:spcPts val="350"/>
              </a:spcAft>
            </a:pPr>
            <a:r>
              <a:rPr sz="1240" b="0" i="0">
                <a:solidFill>
                  <a:srgbClr val="233235"/>
                </a:solidFill>
                <a:latin typeface="Arial"/>
              </a:rPr>
              <a:t>• Live camera / GPS ingestion</a:t>
            </a:r>
          </a:p>
          <a:p>
            <a:pPr algn="l">
              <a:lnSpc>
                <a:spcPct val="95000"/>
              </a:lnSpc>
              <a:spcBef>
                <a:spcPts val="0"/>
              </a:spcBef>
              <a:spcAft>
                <a:spcPts val="350"/>
              </a:spcAft>
            </a:pPr>
            <a:r>
              <a:rPr sz="1240" b="0" i="0">
                <a:solidFill>
                  <a:srgbClr val="233235"/>
                </a:solidFill>
                <a:latin typeface="Arial"/>
              </a:rPr>
              <a:t>• REST API + database persistence</a:t>
            </a:r>
          </a:p>
          <a:p>
            <a:pPr algn="l">
              <a:lnSpc>
                <a:spcPct val="95000"/>
              </a:lnSpc>
              <a:spcBef>
                <a:spcPts val="0"/>
              </a:spcBef>
              <a:spcAft>
                <a:spcPts val="350"/>
              </a:spcAft>
            </a:pPr>
            <a:r>
              <a:rPr sz="1240" b="0" i="0">
                <a:solidFill>
                  <a:srgbClr val="233235"/>
                </a:solidFill>
                <a:latin typeface="Arial"/>
              </a:rPr>
              <a:t>• Authentication + audit trail</a:t>
            </a:r>
          </a:p>
          <a:p>
            <a:pPr algn="l">
              <a:lnSpc>
                <a:spcPct val="95000"/>
              </a:lnSpc>
              <a:spcBef>
                <a:spcPts val="0"/>
              </a:spcBef>
              <a:spcAft>
                <a:spcPts val="350"/>
              </a:spcAft>
            </a:pPr>
            <a:r>
              <a:rPr sz="1240" b="0" i="0">
                <a:solidFill>
                  <a:srgbClr val="233235"/>
                </a:solidFill>
                <a:latin typeface="Arial"/>
              </a:rPr>
              <a:t>• Verified field measurements</a:t>
            </a:r>
          </a:p>
          <a:p>
            <a:pPr algn="l">
              <a:lnSpc>
                <a:spcPct val="95000"/>
              </a:lnSpc>
              <a:spcBef>
                <a:spcPts val="0"/>
              </a:spcBef>
              <a:spcAft>
                <a:spcPts val="350"/>
              </a:spcAft>
            </a:pPr>
            <a:r>
              <a:rPr sz="1240" b="0" i="0">
                <a:solidFill>
                  <a:srgbClr val="233235"/>
                </a:solidFill>
                <a:latin typeface="Arial"/>
              </a:rPr>
              <a:t>• Measured model accuracy</a:t>
            </a:r>
          </a:p>
        </p:txBody>
      </p:sp>
      <p:sp>
        <p:nvSpPr>
          <p:cNvPr id="99" name="Rounded Rectangle 98"/>
          <p:cNvSpPr/>
          <p:nvPr/>
        </p:nvSpPr>
        <p:spPr>
          <a:xfrm>
            <a:off x="731520" y="17154144"/>
            <a:ext cx="9070848" cy="1024128"/>
          </a:xfrm>
          <a:prstGeom prst="roundRect">
            <a:avLst>
              <a:gd name="adj" fmla="val 8000"/>
            </a:avLst>
          </a:prstGeom>
          <a:solidFill>
            <a:srgbClr val="F4E2DC"/>
          </a:solidFill>
          <a:ln w="11430">
            <a:solidFill>
              <a:srgbClr val="F4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77824" y="17263872"/>
            <a:ext cx="8778240" cy="219456"/>
          </a:xfrm>
          <a:prstGeom prst="rect">
            <a:avLst/>
          </a:prstGeom>
          <a:noFill/>
        </p:spPr>
        <p:txBody>
          <a:bodyPr wrap="square" lIns="0" rIns="0" tIns="0" bIns="0" anchor="t">
            <a:spAutoFit/>
          </a:bodyPr>
          <a:lstStyle/>
          <a:p>
            <a:pPr algn="l">
              <a:lnSpc>
                <a:spcPct val="100000"/>
              </a:lnSpc>
              <a:spcBef>
                <a:spcPts val="0"/>
              </a:spcBef>
              <a:spcAft>
                <a:spcPts val="350"/>
              </a:spcAft>
            </a:pPr>
            <a:r>
              <a:rPr sz="1120" b="1" i="0">
                <a:solidFill>
                  <a:srgbClr val="C35D40"/>
                </a:solidFill>
                <a:latin typeface="Arial"/>
              </a:rPr>
              <a:t>BEFORE OPERATIONAL USE</a:t>
            </a:r>
          </a:p>
        </p:txBody>
      </p:sp>
      <p:sp>
        <p:nvSpPr>
          <p:cNvPr id="101" name="TextBox 100"/>
          <p:cNvSpPr txBox="1"/>
          <p:nvPr/>
        </p:nvSpPr>
        <p:spPr>
          <a:xfrm>
            <a:off x="877824" y="17547335"/>
            <a:ext cx="8778240" cy="548640"/>
          </a:xfrm>
          <a:prstGeom prst="rect">
            <a:avLst/>
          </a:prstGeom>
          <a:noFill/>
        </p:spPr>
        <p:txBody>
          <a:bodyPr wrap="square" lIns="0" rIns="0" tIns="0" bIns="0" anchor="t">
            <a:spAutoFit/>
          </a:bodyPr>
          <a:lstStyle/>
          <a:p>
            <a:pPr algn="l">
              <a:lnSpc>
                <a:spcPct val="95000"/>
              </a:lnSpc>
              <a:spcBef>
                <a:spcPts val="0"/>
              </a:spcBef>
              <a:spcAft>
                <a:spcPts val="350"/>
              </a:spcAft>
            </a:pPr>
            <a:r>
              <a:rPr sz="1270" b="0" i="0">
                <a:solidFill>
                  <a:srgbClr val="233235"/>
                </a:solidFill>
                <a:latin typeface="Arial"/>
              </a:rPr>
              <a:t>Check points against the road network and municipal boundary; store source + time for each report; review uncertain records rather than auto-dispatch; avoid claims about detection accuracy until holdout testing is complete.</a:t>
            </a:r>
          </a:p>
        </p:txBody>
      </p:sp>
      <p:sp>
        <p:nvSpPr>
          <p:cNvPr id="102" name="Rounded Rectangle 101"/>
          <p:cNvSpPr/>
          <p:nvPr/>
        </p:nvSpPr>
        <p:spPr>
          <a:xfrm>
            <a:off x="731520" y="18324576"/>
            <a:ext cx="9070848" cy="1280160"/>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77824" y="18434304"/>
            <a:ext cx="8778240" cy="219456"/>
          </a:xfrm>
          <a:prstGeom prst="rect">
            <a:avLst/>
          </a:prstGeom>
          <a:noFill/>
        </p:spPr>
        <p:txBody>
          <a:bodyPr wrap="square" lIns="0" rIns="0" tIns="0" bIns="0" anchor="t">
            <a:spAutoFit/>
          </a:bodyPr>
          <a:lstStyle/>
          <a:p>
            <a:pPr algn="l">
              <a:lnSpc>
                <a:spcPct val="100000"/>
              </a:lnSpc>
              <a:spcBef>
                <a:spcPts val="0"/>
              </a:spcBef>
              <a:spcAft>
                <a:spcPts val="350"/>
              </a:spcAft>
            </a:pPr>
            <a:r>
              <a:rPr sz="1120" b="1" i="0">
                <a:solidFill>
                  <a:srgbClr val="2F7375"/>
                </a:solidFill>
                <a:latin typeface="Arial"/>
              </a:rPr>
              <a:t>TRUSTWORTHY DATA → TRUSTWORTHY WORK ORDERS</a:t>
            </a:r>
          </a:p>
        </p:txBody>
      </p:sp>
      <p:sp>
        <p:nvSpPr>
          <p:cNvPr id="104" name="TextBox 103"/>
          <p:cNvSpPr txBox="1"/>
          <p:nvPr/>
        </p:nvSpPr>
        <p:spPr>
          <a:xfrm>
            <a:off x="877824" y="18736056"/>
            <a:ext cx="8778240" cy="640080"/>
          </a:xfrm>
          <a:prstGeom prst="rect">
            <a:avLst/>
          </a:prstGeom>
          <a:noFill/>
        </p:spPr>
        <p:txBody>
          <a:bodyPr wrap="square" lIns="0" rIns="0" tIns="0" bIns="0" anchor="t">
            <a:spAutoFit/>
          </a:bodyPr>
          <a:lstStyle/>
          <a:p>
            <a:pPr algn="l">
              <a:lnSpc>
                <a:spcPct val="95000"/>
              </a:lnSpc>
              <a:spcBef>
                <a:spcPts val="0"/>
              </a:spcBef>
              <a:spcAft>
                <a:spcPts val="350"/>
              </a:spcAft>
            </a:pPr>
            <a:r>
              <a:rPr sz="1270" b="0" i="0">
                <a:solidFill>
                  <a:srgbClr val="233235"/>
                </a:solidFill>
                <a:latin typeface="Arial"/>
              </a:rPr>
              <a:t>Keep a stable record ID, coordinate precision, time, severity source, status-change history and responsible crew. Duplicate handling and long-term auditability depend on server-side persistence.</a:t>
            </a:r>
          </a:p>
        </p:txBody>
      </p:sp>
      <p:sp>
        <p:nvSpPr>
          <p:cNvPr id="105" name="Rounded Rectangle 104"/>
          <p:cNvSpPr/>
          <p:nvPr/>
        </p:nvSpPr>
        <p:spPr>
          <a:xfrm>
            <a:off x="10341864" y="3246120"/>
            <a:ext cx="9592056" cy="2788920"/>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341864" y="3246120"/>
            <a:ext cx="91440" cy="2788920"/>
          </a:xfrm>
          <a:prstGeom prst="rect">
            <a:avLst/>
          </a:prstGeom>
          <a:solidFill>
            <a:srgbClr val="2F7375"/>
          </a:solidFill>
          <a:ln w="1143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0597896" y="3374136"/>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2F7375"/>
                </a:solidFill>
                <a:latin typeface="Arial"/>
              </a:rPr>
              <a:t>SYSTEM ARCHITECTURE</a:t>
            </a:r>
          </a:p>
        </p:txBody>
      </p:sp>
      <p:sp>
        <p:nvSpPr>
          <p:cNvPr id="108" name="Rounded Rectangle 107"/>
          <p:cNvSpPr/>
          <p:nvPr/>
        </p:nvSpPr>
        <p:spPr>
          <a:xfrm>
            <a:off x="10616184" y="3858768"/>
            <a:ext cx="1682495" cy="1243584"/>
          </a:xfrm>
          <a:prstGeom prst="roundRect">
            <a:avLst>
              <a:gd name="adj" fmla="val 8000"/>
            </a:avLst>
          </a:prstGeom>
          <a:solidFill>
            <a:srgbClr val="DCEBE9"/>
          </a:solidFill>
          <a:ln w="1143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0671048" y="3950207"/>
            <a:ext cx="1572767"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233235"/>
                </a:solidFill>
                <a:latin typeface="Arial"/>
              </a:rPr>
              <a:t>RECORD SOURCE</a:t>
            </a:r>
          </a:p>
        </p:txBody>
      </p:sp>
      <p:sp>
        <p:nvSpPr>
          <p:cNvPr id="110" name="TextBox 109"/>
          <p:cNvSpPr txBox="1"/>
          <p:nvPr/>
        </p:nvSpPr>
        <p:spPr>
          <a:xfrm>
            <a:off x="10689336" y="4270248"/>
            <a:ext cx="1536192" cy="786384"/>
          </a:xfrm>
          <a:prstGeom prst="rect">
            <a:avLst/>
          </a:prstGeom>
          <a:noFill/>
        </p:spPr>
        <p:txBody>
          <a:bodyPr wrap="square" lIns="0" rIns="0" tIns="0" bIns="0" anchor="t">
            <a:spAutoFit/>
          </a:bodyPr>
          <a:lstStyle/>
          <a:p>
            <a:pPr algn="ctr">
              <a:lnSpc>
                <a:spcPct val="95000"/>
              </a:lnSpc>
              <a:spcBef>
                <a:spcPts val="0"/>
              </a:spcBef>
              <a:spcAft>
                <a:spcPts val="350"/>
              </a:spcAft>
            </a:pPr>
            <a:r>
              <a:rPr sz="1000" b="0" i="0">
                <a:solidFill>
                  <a:srgbClr val="435256"/>
                </a:solidFill>
                <a:latin typeface="Arial"/>
              </a:rPr>
              <a:t>Current JS data; future API</a:t>
            </a:r>
          </a:p>
        </p:txBody>
      </p:sp>
      <p:sp>
        <p:nvSpPr>
          <p:cNvPr id="111" name="TextBox 110"/>
          <p:cNvSpPr txBox="1"/>
          <p:nvPr/>
        </p:nvSpPr>
        <p:spPr>
          <a:xfrm>
            <a:off x="12303252" y="4306824"/>
            <a:ext cx="155448" cy="274320"/>
          </a:xfrm>
          <a:prstGeom prst="rect">
            <a:avLst/>
          </a:prstGeom>
          <a:noFill/>
        </p:spPr>
        <p:txBody>
          <a:bodyPr wrap="square" lIns="0" rIns="0" tIns="0" bIns="0" anchor="ctr">
            <a:spAutoFit/>
          </a:bodyPr>
          <a:lstStyle/>
          <a:p>
            <a:pPr algn="ctr">
              <a:lnSpc>
                <a:spcPct val="100000"/>
              </a:lnSpc>
              <a:spcBef>
                <a:spcPts val="0"/>
              </a:spcBef>
              <a:spcAft>
                <a:spcPts val="350"/>
              </a:spcAft>
            </a:pPr>
            <a:r>
              <a:rPr sz="2000" b="1" i="0">
                <a:solidFill>
                  <a:srgbClr val="2F7375"/>
                </a:solidFill>
                <a:latin typeface="Arial"/>
              </a:rPr>
              <a:t>›</a:t>
            </a:r>
          </a:p>
        </p:txBody>
      </p:sp>
      <p:sp>
        <p:nvSpPr>
          <p:cNvPr id="112" name="Rounded Rectangle 111"/>
          <p:cNvSpPr/>
          <p:nvPr/>
        </p:nvSpPr>
        <p:spPr>
          <a:xfrm>
            <a:off x="12463272" y="3858768"/>
            <a:ext cx="1682495" cy="1243584"/>
          </a:xfrm>
          <a:prstGeom prst="roundRect">
            <a:avLst>
              <a:gd name="adj" fmla="val 8000"/>
            </a:avLst>
          </a:prstGeom>
          <a:solidFill>
            <a:srgbClr val="E4ECE2"/>
          </a:solidFill>
          <a:ln w="11430">
            <a:solidFill>
              <a:srgbClr val="71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2518136" y="3950207"/>
            <a:ext cx="1572767"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233235"/>
                </a:solidFill>
                <a:latin typeface="Arial"/>
              </a:rPr>
              <a:t>FILTER STATE</a:t>
            </a:r>
          </a:p>
        </p:txBody>
      </p:sp>
      <p:sp>
        <p:nvSpPr>
          <p:cNvPr id="114" name="TextBox 113"/>
          <p:cNvSpPr txBox="1"/>
          <p:nvPr/>
        </p:nvSpPr>
        <p:spPr>
          <a:xfrm>
            <a:off x="12536424" y="4270248"/>
            <a:ext cx="1536192" cy="786384"/>
          </a:xfrm>
          <a:prstGeom prst="rect">
            <a:avLst/>
          </a:prstGeom>
          <a:noFill/>
        </p:spPr>
        <p:txBody>
          <a:bodyPr wrap="square" lIns="0" rIns="0" tIns="0" bIns="0" anchor="t">
            <a:spAutoFit/>
          </a:bodyPr>
          <a:lstStyle/>
          <a:p>
            <a:pPr algn="ctr">
              <a:lnSpc>
                <a:spcPct val="95000"/>
              </a:lnSpc>
              <a:spcBef>
                <a:spcPts val="0"/>
              </a:spcBef>
              <a:spcAft>
                <a:spcPts val="350"/>
              </a:spcAft>
            </a:pPr>
            <a:r>
              <a:rPr sz="1000" b="0" i="0">
                <a:solidFill>
                  <a:srgbClr val="435256"/>
                </a:solidFill>
                <a:latin typeface="Arial"/>
              </a:rPr>
              <a:t>Time, severity, status, search</a:t>
            </a:r>
          </a:p>
        </p:txBody>
      </p:sp>
      <p:sp>
        <p:nvSpPr>
          <p:cNvPr id="115" name="TextBox 114"/>
          <p:cNvSpPr txBox="1"/>
          <p:nvPr/>
        </p:nvSpPr>
        <p:spPr>
          <a:xfrm>
            <a:off x="14150340" y="4306824"/>
            <a:ext cx="155448" cy="274320"/>
          </a:xfrm>
          <a:prstGeom prst="rect">
            <a:avLst/>
          </a:prstGeom>
          <a:noFill/>
        </p:spPr>
        <p:txBody>
          <a:bodyPr wrap="square" lIns="0" rIns="0" tIns="0" bIns="0" anchor="ctr">
            <a:spAutoFit/>
          </a:bodyPr>
          <a:lstStyle/>
          <a:p>
            <a:pPr algn="ctr">
              <a:lnSpc>
                <a:spcPct val="100000"/>
              </a:lnSpc>
              <a:spcBef>
                <a:spcPts val="0"/>
              </a:spcBef>
              <a:spcAft>
                <a:spcPts val="350"/>
              </a:spcAft>
            </a:pPr>
            <a:r>
              <a:rPr sz="2000" b="1" i="0">
                <a:solidFill>
                  <a:srgbClr val="2F7375"/>
                </a:solidFill>
                <a:latin typeface="Arial"/>
              </a:rPr>
              <a:t>›</a:t>
            </a:r>
          </a:p>
        </p:txBody>
      </p:sp>
      <p:sp>
        <p:nvSpPr>
          <p:cNvPr id="116" name="Rounded Rectangle 115"/>
          <p:cNvSpPr/>
          <p:nvPr/>
        </p:nvSpPr>
        <p:spPr>
          <a:xfrm>
            <a:off x="14310360" y="3858768"/>
            <a:ext cx="1682495" cy="1243584"/>
          </a:xfrm>
          <a:prstGeom prst="roundRect">
            <a:avLst>
              <a:gd name="adj" fmla="val 8000"/>
            </a:avLst>
          </a:prstGeom>
          <a:solidFill>
            <a:srgbClr val="F5EACB"/>
          </a:solidFill>
          <a:ln w="1143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4365224" y="3950207"/>
            <a:ext cx="1572767"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233235"/>
                </a:solidFill>
                <a:latin typeface="Arial"/>
              </a:rPr>
              <a:t>VIEWS</a:t>
            </a:r>
          </a:p>
        </p:txBody>
      </p:sp>
      <p:sp>
        <p:nvSpPr>
          <p:cNvPr id="118" name="TextBox 117"/>
          <p:cNvSpPr txBox="1"/>
          <p:nvPr/>
        </p:nvSpPr>
        <p:spPr>
          <a:xfrm>
            <a:off x="14383512" y="4270248"/>
            <a:ext cx="1536192" cy="786384"/>
          </a:xfrm>
          <a:prstGeom prst="rect">
            <a:avLst/>
          </a:prstGeom>
          <a:noFill/>
        </p:spPr>
        <p:txBody>
          <a:bodyPr wrap="square" lIns="0" rIns="0" tIns="0" bIns="0" anchor="t">
            <a:spAutoFit/>
          </a:bodyPr>
          <a:lstStyle/>
          <a:p>
            <a:pPr algn="ctr">
              <a:lnSpc>
                <a:spcPct val="95000"/>
              </a:lnSpc>
              <a:spcBef>
                <a:spcPts val="0"/>
              </a:spcBef>
              <a:spcAft>
                <a:spcPts val="350"/>
              </a:spcAft>
            </a:pPr>
            <a:r>
              <a:rPr sz="1000" b="0" i="0">
                <a:solidFill>
                  <a:srgbClr val="435256"/>
                </a:solidFill>
                <a:latin typeface="Arial"/>
              </a:rPr>
              <a:t>Map, table, KPIs, trends</a:t>
            </a:r>
          </a:p>
        </p:txBody>
      </p:sp>
      <p:sp>
        <p:nvSpPr>
          <p:cNvPr id="119" name="TextBox 118"/>
          <p:cNvSpPr txBox="1"/>
          <p:nvPr/>
        </p:nvSpPr>
        <p:spPr>
          <a:xfrm>
            <a:off x="15997428" y="4306824"/>
            <a:ext cx="155448" cy="274320"/>
          </a:xfrm>
          <a:prstGeom prst="rect">
            <a:avLst/>
          </a:prstGeom>
          <a:noFill/>
        </p:spPr>
        <p:txBody>
          <a:bodyPr wrap="square" lIns="0" rIns="0" tIns="0" bIns="0" anchor="ctr">
            <a:spAutoFit/>
          </a:bodyPr>
          <a:lstStyle/>
          <a:p>
            <a:pPr algn="ctr">
              <a:lnSpc>
                <a:spcPct val="100000"/>
              </a:lnSpc>
              <a:spcBef>
                <a:spcPts val="0"/>
              </a:spcBef>
              <a:spcAft>
                <a:spcPts val="350"/>
              </a:spcAft>
            </a:pPr>
            <a:r>
              <a:rPr sz="2000" b="1" i="0">
                <a:solidFill>
                  <a:srgbClr val="2F7375"/>
                </a:solidFill>
                <a:latin typeface="Arial"/>
              </a:rPr>
              <a:t>›</a:t>
            </a:r>
          </a:p>
        </p:txBody>
      </p:sp>
      <p:sp>
        <p:nvSpPr>
          <p:cNvPr id="120" name="Rounded Rectangle 119"/>
          <p:cNvSpPr/>
          <p:nvPr/>
        </p:nvSpPr>
        <p:spPr>
          <a:xfrm>
            <a:off x="16157448" y="3858768"/>
            <a:ext cx="1682495" cy="1243584"/>
          </a:xfrm>
          <a:prstGeom prst="roundRect">
            <a:avLst>
              <a:gd name="adj" fmla="val 8000"/>
            </a:avLst>
          </a:prstGeom>
          <a:solidFill>
            <a:srgbClr val="F4E2DC"/>
          </a:solidFill>
          <a:ln w="1143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6212312" y="3950207"/>
            <a:ext cx="1572767"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233235"/>
                </a:solidFill>
                <a:latin typeface="Arial"/>
              </a:rPr>
              <a:t>TRIAGE</a:t>
            </a:r>
          </a:p>
        </p:txBody>
      </p:sp>
      <p:sp>
        <p:nvSpPr>
          <p:cNvPr id="122" name="TextBox 121"/>
          <p:cNvSpPr txBox="1"/>
          <p:nvPr/>
        </p:nvSpPr>
        <p:spPr>
          <a:xfrm>
            <a:off x="16230600" y="4270248"/>
            <a:ext cx="1536192" cy="786384"/>
          </a:xfrm>
          <a:prstGeom prst="rect">
            <a:avLst/>
          </a:prstGeom>
          <a:noFill/>
        </p:spPr>
        <p:txBody>
          <a:bodyPr wrap="square" lIns="0" rIns="0" tIns="0" bIns="0" anchor="t">
            <a:spAutoFit/>
          </a:bodyPr>
          <a:lstStyle/>
          <a:p>
            <a:pPr algn="ctr">
              <a:lnSpc>
                <a:spcPct val="95000"/>
              </a:lnSpc>
              <a:spcBef>
                <a:spcPts val="0"/>
              </a:spcBef>
              <a:spcAft>
                <a:spcPts val="350"/>
              </a:spcAft>
            </a:pPr>
            <a:r>
              <a:rPr sz="1000" b="0" i="0">
                <a:solidFill>
                  <a:srgbClr val="435256"/>
                </a:solidFill>
                <a:latin typeface="Arial"/>
              </a:rPr>
              <a:t>Review, schedule, repair</a:t>
            </a:r>
          </a:p>
        </p:txBody>
      </p:sp>
      <p:sp>
        <p:nvSpPr>
          <p:cNvPr id="123" name="TextBox 122"/>
          <p:cNvSpPr txBox="1"/>
          <p:nvPr/>
        </p:nvSpPr>
        <p:spPr>
          <a:xfrm>
            <a:off x="17844516" y="4306824"/>
            <a:ext cx="155448" cy="274320"/>
          </a:xfrm>
          <a:prstGeom prst="rect">
            <a:avLst/>
          </a:prstGeom>
          <a:noFill/>
        </p:spPr>
        <p:txBody>
          <a:bodyPr wrap="square" lIns="0" rIns="0" tIns="0" bIns="0" anchor="ctr">
            <a:spAutoFit/>
          </a:bodyPr>
          <a:lstStyle/>
          <a:p>
            <a:pPr algn="ctr">
              <a:lnSpc>
                <a:spcPct val="100000"/>
              </a:lnSpc>
              <a:spcBef>
                <a:spcPts val="0"/>
              </a:spcBef>
              <a:spcAft>
                <a:spcPts val="350"/>
              </a:spcAft>
            </a:pPr>
            <a:r>
              <a:rPr sz="2000" b="1" i="0">
                <a:solidFill>
                  <a:srgbClr val="2F7375"/>
                </a:solidFill>
                <a:latin typeface="Arial"/>
              </a:rPr>
              <a:t>›</a:t>
            </a:r>
          </a:p>
        </p:txBody>
      </p:sp>
      <p:sp>
        <p:nvSpPr>
          <p:cNvPr id="124" name="Rounded Rectangle 123"/>
          <p:cNvSpPr/>
          <p:nvPr/>
        </p:nvSpPr>
        <p:spPr>
          <a:xfrm>
            <a:off x="18004536" y="3858768"/>
            <a:ext cx="1682495" cy="1243584"/>
          </a:xfrm>
          <a:prstGeom prst="roundRect">
            <a:avLst>
              <a:gd name="adj" fmla="val 8000"/>
            </a:avLst>
          </a:prstGeom>
          <a:solidFill>
            <a:srgbClr val="E2EAF2"/>
          </a:solidFill>
          <a:ln w="11430">
            <a:solidFill>
              <a:srgbClr val="456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8059400" y="3950207"/>
            <a:ext cx="1572767"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080" b="1" i="0">
                <a:solidFill>
                  <a:srgbClr val="233235"/>
                </a:solidFill>
                <a:latin typeface="Arial"/>
              </a:rPr>
              <a:t>PERSISTENCE</a:t>
            </a:r>
          </a:p>
        </p:txBody>
      </p:sp>
      <p:sp>
        <p:nvSpPr>
          <p:cNvPr id="126" name="TextBox 125"/>
          <p:cNvSpPr txBox="1"/>
          <p:nvPr/>
        </p:nvSpPr>
        <p:spPr>
          <a:xfrm>
            <a:off x="18077688" y="4270248"/>
            <a:ext cx="1536192" cy="786384"/>
          </a:xfrm>
          <a:prstGeom prst="rect">
            <a:avLst/>
          </a:prstGeom>
          <a:noFill/>
        </p:spPr>
        <p:txBody>
          <a:bodyPr wrap="square" lIns="0" rIns="0" tIns="0" bIns="0" anchor="t">
            <a:spAutoFit/>
          </a:bodyPr>
          <a:lstStyle/>
          <a:p>
            <a:pPr algn="ctr">
              <a:lnSpc>
                <a:spcPct val="95000"/>
              </a:lnSpc>
              <a:spcBef>
                <a:spcPts val="0"/>
              </a:spcBef>
              <a:spcAft>
                <a:spcPts val="350"/>
              </a:spcAft>
            </a:pPr>
            <a:r>
              <a:rPr sz="1000" b="0" i="0">
                <a:solidFill>
                  <a:srgbClr val="435256"/>
                </a:solidFill>
                <a:latin typeface="Arial"/>
              </a:rPr>
              <a:t>Browser state now; DB next</a:t>
            </a:r>
          </a:p>
        </p:txBody>
      </p:sp>
      <p:sp>
        <p:nvSpPr>
          <p:cNvPr id="127" name="TextBox 126"/>
          <p:cNvSpPr txBox="1"/>
          <p:nvPr/>
        </p:nvSpPr>
        <p:spPr>
          <a:xfrm>
            <a:off x="10616184" y="5294376"/>
            <a:ext cx="9070848" cy="621792"/>
          </a:xfrm>
          <a:prstGeom prst="rect">
            <a:avLst/>
          </a:prstGeom>
          <a:noFill/>
        </p:spPr>
        <p:txBody>
          <a:bodyPr wrap="square" lIns="0" rIns="0" tIns="0" bIns="0" anchor="t">
            <a:spAutoFit/>
          </a:bodyPr>
          <a:lstStyle/>
          <a:p>
            <a:pPr algn="l">
              <a:lnSpc>
                <a:spcPct val="98000"/>
              </a:lnSpc>
              <a:spcBef>
                <a:spcPts val="0"/>
              </a:spcBef>
              <a:spcAft>
                <a:spcPts val="350"/>
              </a:spcAft>
            </a:pPr>
            <a:r>
              <a:rPr sz="1280" b="0" i="0">
                <a:solidFill>
                  <a:srgbClr val="435256"/>
                </a:solidFill>
                <a:latin typeface="Arial"/>
              </a:rPr>
              <a:t>A single filtered record set drives the map, table and summary panels so an operator can move from spatial context to record-level triage without losing selection context.</a:t>
            </a:r>
          </a:p>
        </p:txBody>
      </p:sp>
      <p:sp>
        <p:nvSpPr>
          <p:cNvPr id="128" name="Rounded Rectangle 127"/>
          <p:cNvSpPr/>
          <p:nvPr/>
        </p:nvSpPr>
        <p:spPr>
          <a:xfrm>
            <a:off x="10341864" y="6199631"/>
            <a:ext cx="9592056" cy="4069080"/>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0341864" y="6199631"/>
            <a:ext cx="91440" cy="4069080"/>
          </a:xfrm>
          <a:prstGeom prst="rect">
            <a:avLst/>
          </a:prstGeom>
          <a:solidFill>
            <a:srgbClr val="D1A23E"/>
          </a:solidFill>
          <a:ln w="1143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597896" y="6327647"/>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D1A23E"/>
                </a:solidFill>
                <a:latin typeface="Arial"/>
              </a:rPr>
              <a:t>DATA-SCIENCE EXTENSION</a:t>
            </a:r>
          </a:p>
        </p:txBody>
      </p:sp>
      <p:sp>
        <p:nvSpPr>
          <p:cNvPr id="131" name="Oval 130"/>
          <p:cNvSpPr/>
          <p:nvPr/>
        </p:nvSpPr>
        <p:spPr>
          <a:xfrm>
            <a:off x="10616184" y="6857999"/>
            <a:ext cx="292608" cy="292608"/>
          </a:xfrm>
          <a:prstGeom prst="ellipse">
            <a:avLst/>
          </a:prstGeom>
          <a:solidFill>
            <a:srgbClr val="2F7375"/>
          </a:solidFill>
          <a:ln w="1016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0616184" y="6862571"/>
            <a:ext cx="292608" cy="256032"/>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FFFFFF"/>
                </a:solidFill>
                <a:latin typeface="Arial"/>
              </a:rPr>
              <a:t>1</a:t>
            </a:r>
          </a:p>
        </p:txBody>
      </p:sp>
      <p:sp>
        <p:nvSpPr>
          <p:cNvPr id="133" name="TextBox 132"/>
          <p:cNvSpPr txBox="1"/>
          <p:nvPr/>
        </p:nvSpPr>
        <p:spPr>
          <a:xfrm>
            <a:off x="11055096" y="6812279"/>
            <a:ext cx="1307592" cy="265176"/>
          </a:xfrm>
          <a:prstGeom prst="rect">
            <a:avLst/>
          </a:prstGeom>
          <a:noFill/>
        </p:spPr>
        <p:txBody>
          <a:bodyPr wrap="square" lIns="0" rIns="0" tIns="0" bIns="0" anchor="ctr">
            <a:spAutoFit/>
          </a:bodyPr>
          <a:lstStyle/>
          <a:p>
            <a:pPr algn="l">
              <a:lnSpc>
                <a:spcPct val="100000"/>
              </a:lnSpc>
              <a:spcBef>
                <a:spcPts val="0"/>
              </a:spcBef>
              <a:spcAft>
                <a:spcPts val="350"/>
              </a:spcAft>
            </a:pPr>
            <a:r>
              <a:rPr sz="1170" b="1" i="0">
                <a:solidFill>
                  <a:srgbClr val="2F7375"/>
                </a:solidFill>
                <a:latin typeface="Arial"/>
              </a:rPr>
              <a:t>CAPTURE</a:t>
            </a:r>
          </a:p>
        </p:txBody>
      </p:sp>
      <p:sp>
        <p:nvSpPr>
          <p:cNvPr id="134" name="TextBox 133"/>
          <p:cNvSpPr txBox="1"/>
          <p:nvPr/>
        </p:nvSpPr>
        <p:spPr>
          <a:xfrm>
            <a:off x="12307824" y="6812279"/>
            <a:ext cx="7315200" cy="438912"/>
          </a:xfrm>
          <a:prstGeom prst="rect">
            <a:avLst/>
          </a:prstGeom>
          <a:noFill/>
        </p:spPr>
        <p:txBody>
          <a:bodyPr wrap="square" lIns="0" rIns="0" tIns="0" bIns="0" anchor="ctr">
            <a:spAutoFit/>
          </a:bodyPr>
          <a:lstStyle/>
          <a:p>
            <a:pPr algn="l">
              <a:lnSpc>
                <a:spcPct val="95000"/>
              </a:lnSpc>
              <a:spcBef>
                <a:spcPts val="0"/>
              </a:spcBef>
              <a:spcAft>
                <a:spcPts val="350"/>
              </a:spcAft>
            </a:pPr>
            <a:r>
              <a:rPr sz="1220" b="0" i="0">
                <a:solidFill>
                  <a:srgbClr val="233235"/>
                </a:solidFill>
                <a:latin typeface="Arial"/>
              </a:rPr>
              <a:t>Road image/video + GPS + timestamp</a:t>
            </a:r>
          </a:p>
        </p:txBody>
      </p:sp>
      <p:sp>
        <p:nvSpPr>
          <p:cNvPr id="135" name="Oval 134"/>
          <p:cNvSpPr/>
          <p:nvPr/>
        </p:nvSpPr>
        <p:spPr>
          <a:xfrm>
            <a:off x="10616184" y="7415783"/>
            <a:ext cx="292608" cy="292608"/>
          </a:xfrm>
          <a:prstGeom prst="ellipse">
            <a:avLst/>
          </a:prstGeom>
          <a:solidFill>
            <a:srgbClr val="718F78"/>
          </a:solidFill>
          <a:ln w="10160">
            <a:solidFill>
              <a:srgbClr val="71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0616184" y="7420355"/>
            <a:ext cx="292608" cy="256032"/>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FFFFFF"/>
                </a:solidFill>
                <a:latin typeface="Arial"/>
              </a:rPr>
              <a:t>2</a:t>
            </a:r>
          </a:p>
        </p:txBody>
      </p:sp>
      <p:sp>
        <p:nvSpPr>
          <p:cNvPr id="137" name="TextBox 136"/>
          <p:cNvSpPr txBox="1"/>
          <p:nvPr/>
        </p:nvSpPr>
        <p:spPr>
          <a:xfrm>
            <a:off x="11055096" y="7370063"/>
            <a:ext cx="1307592" cy="265176"/>
          </a:xfrm>
          <a:prstGeom prst="rect">
            <a:avLst/>
          </a:prstGeom>
          <a:noFill/>
        </p:spPr>
        <p:txBody>
          <a:bodyPr wrap="square" lIns="0" rIns="0" tIns="0" bIns="0" anchor="ctr">
            <a:spAutoFit/>
          </a:bodyPr>
          <a:lstStyle/>
          <a:p>
            <a:pPr algn="l">
              <a:lnSpc>
                <a:spcPct val="100000"/>
              </a:lnSpc>
              <a:spcBef>
                <a:spcPts val="0"/>
              </a:spcBef>
              <a:spcAft>
                <a:spcPts val="350"/>
              </a:spcAft>
            </a:pPr>
            <a:r>
              <a:rPr sz="1170" b="1" i="0">
                <a:solidFill>
                  <a:srgbClr val="718F78"/>
                </a:solidFill>
                <a:latin typeface="Arial"/>
              </a:rPr>
              <a:t>ANNOTATE</a:t>
            </a:r>
          </a:p>
        </p:txBody>
      </p:sp>
      <p:sp>
        <p:nvSpPr>
          <p:cNvPr id="138" name="TextBox 137"/>
          <p:cNvSpPr txBox="1"/>
          <p:nvPr/>
        </p:nvSpPr>
        <p:spPr>
          <a:xfrm>
            <a:off x="12307824" y="7370063"/>
            <a:ext cx="7315200" cy="438912"/>
          </a:xfrm>
          <a:prstGeom prst="rect">
            <a:avLst/>
          </a:prstGeom>
          <a:noFill/>
        </p:spPr>
        <p:txBody>
          <a:bodyPr wrap="square" lIns="0" rIns="0" tIns="0" bIns="0" anchor="ctr">
            <a:spAutoFit/>
          </a:bodyPr>
          <a:lstStyle/>
          <a:p>
            <a:pPr algn="l">
              <a:lnSpc>
                <a:spcPct val="95000"/>
              </a:lnSpc>
              <a:spcBef>
                <a:spcPts val="0"/>
              </a:spcBef>
              <a:spcAft>
                <a:spcPts val="350"/>
              </a:spcAft>
            </a:pPr>
            <a:r>
              <a:rPr sz="1220" b="0" i="0">
                <a:solidFill>
                  <a:srgbClr val="233235"/>
                </a:solidFill>
                <a:latin typeface="Arial"/>
              </a:rPr>
              <a:t>Label potholes / cracks; quality review</a:t>
            </a:r>
          </a:p>
        </p:txBody>
      </p:sp>
      <p:sp>
        <p:nvSpPr>
          <p:cNvPr id="139" name="Oval 138"/>
          <p:cNvSpPr/>
          <p:nvPr/>
        </p:nvSpPr>
        <p:spPr>
          <a:xfrm>
            <a:off x="10616184" y="7973568"/>
            <a:ext cx="292608" cy="292608"/>
          </a:xfrm>
          <a:prstGeom prst="ellipse">
            <a:avLst/>
          </a:prstGeom>
          <a:solidFill>
            <a:srgbClr val="D1A23E"/>
          </a:solidFill>
          <a:ln w="1016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0616184" y="7978140"/>
            <a:ext cx="292608" cy="256032"/>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FFFFFF"/>
                </a:solidFill>
                <a:latin typeface="Arial"/>
              </a:rPr>
              <a:t>3</a:t>
            </a:r>
          </a:p>
        </p:txBody>
      </p:sp>
      <p:sp>
        <p:nvSpPr>
          <p:cNvPr id="141" name="TextBox 140"/>
          <p:cNvSpPr txBox="1"/>
          <p:nvPr/>
        </p:nvSpPr>
        <p:spPr>
          <a:xfrm>
            <a:off x="11055096" y="7927848"/>
            <a:ext cx="1307592" cy="265176"/>
          </a:xfrm>
          <a:prstGeom prst="rect">
            <a:avLst/>
          </a:prstGeom>
          <a:noFill/>
        </p:spPr>
        <p:txBody>
          <a:bodyPr wrap="square" lIns="0" rIns="0" tIns="0" bIns="0" anchor="ctr">
            <a:spAutoFit/>
          </a:bodyPr>
          <a:lstStyle/>
          <a:p>
            <a:pPr algn="l">
              <a:lnSpc>
                <a:spcPct val="100000"/>
              </a:lnSpc>
              <a:spcBef>
                <a:spcPts val="0"/>
              </a:spcBef>
              <a:spcAft>
                <a:spcPts val="350"/>
              </a:spcAft>
            </a:pPr>
            <a:r>
              <a:rPr sz="1170" b="1" i="0">
                <a:solidFill>
                  <a:srgbClr val="D1A23E"/>
                </a:solidFill>
                <a:latin typeface="Arial"/>
              </a:rPr>
              <a:t>DETECT</a:t>
            </a:r>
          </a:p>
        </p:txBody>
      </p:sp>
      <p:sp>
        <p:nvSpPr>
          <p:cNvPr id="142" name="TextBox 141"/>
          <p:cNvSpPr txBox="1"/>
          <p:nvPr/>
        </p:nvSpPr>
        <p:spPr>
          <a:xfrm>
            <a:off x="12307824" y="7927848"/>
            <a:ext cx="7315200" cy="438912"/>
          </a:xfrm>
          <a:prstGeom prst="rect">
            <a:avLst/>
          </a:prstGeom>
          <a:noFill/>
        </p:spPr>
        <p:txBody>
          <a:bodyPr wrap="square" lIns="0" rIns="0" tIns="0" bIns="0" anchor="ctr">
            <a:spAutoFit/>
          </a:bodyPr>
          <a:lstStyle/>
          <a:p>
            <a:pPr algn="l">
              <a:lnSpc>
                <a:spcPct val="95000"/>
              </a:lnSpc>
              <a:spcBef>
                <a:spcPts val="0"/>
              </a:spcBef>
              <a:spcAft>
                <a:spcPts val="350"/>
              </a:spcAft>
            </a:pPr>
            <a:r>
              <a:rPr sz="1220" b="0" i="0">
                <a:solidFill>
                  <a:srgbClr val="233235"/>
                </a:solidFill>
                <a:latin typeface="Arial"/>
              </a:rPr>
              <a:t>Train baseline object detector; confidence output</a:t>
            </a:r>
          </a:p>
        </p:txBody>
      </p:sp>
      <p:sp>
        <p:nvSpPr>
          <p:cNvPr id="143" name="Oval 142"/>
          <p:cNvSpPr/>
          <p:nvPr/>
        </p:nvSpPr>
        <p:spPr>
          <a:xfrm>
            <a:off x="10616184" y="8531352"/>
            <a:ext cx="292608" cy="292608"/>
          </a:xfrm>
          <a:prstGeom prst="ellipse">
            <a:avLst/>
          </a:prstGeom>
          <a:solidFill>
            <a:srgbClr val="C35D40"/>
          </a:solidFill>
          <a:ln w="1016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0616184" y="8535924"/>
            <a:ext cx="292608" cy="256032"/>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FFFFFF"/>
                </a:solidFill>
                <a:latin typeface="Arial"/>
              </a:rPr>
              <a:t>4</a:t>
            </a:r>
          </a:p>
        </p:txBody>
      </p:sp>
      <p:sp>
        <p:nvSpPr>
          <p:cNvPr id="145" name="TextBox 144"/>
          <p:cNvSpPr txBox="1"/>
          <p:nvPr/>
        </p:nvSpPr>
        <p:spPr>
          <a:xfrm>
            <a:off x="11055096" y="8485632"/>
            <a:ext cx="1307592" cy="265176"/>
          </a:xfrm>
          <a:prstGeom prst="rect">
            <a:avLst/>
          </a:prstGeom>
          <a:noFill/>
        </p:spPr>
        <p:txBody>
          <a:bodyPr wrap="square" lIns="0" rIns="0" tIns="0" bIns="0" anchor="ctr">
            <a:spAutoFit/>
          </a:bodyPr>
          <a:lstStyle/>
          <a:p>
            <a:pPr algn="l">
              <a:lnSpc>
                <a:spcPct val="100000"/>
              </a:lnSpc>
              <a:spcBef>
                <a:spcPts val="0"/>
              </a:spcBef>
              <a:spcAft>
                <a:spcPts val="350"/>
              </a:spcAft>
            </a:pPr>
            <a:r>
              <a:rPr sz="1170" b="1" i="0">
                <a:solidFill>
                  <a:srgbClr val="C35D40"/>
                </a:solidFill>
                <a:latin typeface="Arial"/>
              </a:rPr>
              <a:t>GEO-ENRICH</a:t>
            </a:r>
          </a:p>
        </p:txBody>
      </p:sp>
      <p:sp>
        <p:nvSpPr>
          <p:cNvPr id="146" name="TextBox 145"/>
          <p:cNvSpPr txBox="1"/>
          <p:nvPr/>
        </p:nvSpPr>
        <p:spPr>
          <a:xfrm>
            <a:off x="12307824" y="8485632"/>
            <a:ext cx="7315200" cy="438912"/>
          </a:xfrm>
          <a:prstGeom prst="rect">
            <a:avLst/>
          </a:prstGeom>
          <a:noFill/>
        </p:spPr>
        <p:txBody>
          <a:bodyPr wrap="square" lIns="0" rIns="0" tIns="0" bIns="0" anchor="ctr">
            <a:spAutoFit/>
          </a:bodyPr>
          <a:lstStyle/>
          <a:p>
            <a:pPr algn="l">
              <a:lnSpc>
                <a:spcPct val="95000"/>
              </a:lnSpc>
              <a:spcBef>
                <a:spcPts val="0"/>
              </a:spcBef>
              <a:spcAft>
                <a:spcPts val="350"/>
              </a:spcAft>
            </a:pPr>
            <a:r>
              <a:rPr sz="1220" b="0" i="0">
                <a:solidFill>
                  <a:srgbClr val="233235"/>
                </a:solidFill>
                <a:latin typeface="Arial"/>
              </a:rPr>
              <a:t>Attach position; snap to roads; group duplicates</a:t>
            </a:r>
          </a:p>
        </p:txBody>
      </p:sp>
      <p:sp>
        <p:nvSpPr>
          <p:cNvPr id="147" name="Oval 146"/>
          <p:cNvSpPr/>
          <p:nvPr/>
        </p:nvSpPr>
        <p:spPr>
          <a:xfrm>
            <a:off x="10616184" y="9089136"/>
            <a:ext cx="292608" cy="292608"/>
          </a:xfrm>
          <a:prstGeom prst="ellipse">
            <a:avLst/>
          </a:prstGeom>
          <a:solidFill>
            <a:srgbClr val="456C91"/>
          </a:solidFill>
          <a:ln w="10160">
            <a:solidFill>
              <a:srgbClr val="456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0616184" y="9093707"/>
            <a:ext cx="292608" cy="256032"/>
          </a:xfrm>
          <a:prstGeom prst="rect">
            <a:avLst/>
          </a:prstGeom>
          <a:noFill/>
        </p:spPr>
        <p:txBody>
          <a:bodyPr wrap="square" lIns="0" rIns="0" tIns="0" bIns="0" anchor="ctr">
            <a:spAutoFit/>
          </a:bodyPr>
          <a:lstStyle/>
          <a:p>
            <a:pPr algn="ctr">
              <a:lnSpc>
                <a:spcPct val="100000"/>
              </a:lnSpc>
              <a:spcBef>
                <a:spcPts val="0"/>
              </a:spcBef>
              <a:spcAft>
                <a:spcPts val="350"/>
              </a:spcAft>
            </a:pPr>
            <a:r>
              <a:rPr sz="1100" b="1" i="0">
                <a:solidFill>
                  <a:srgbClr val="FFFFFF"/>
                </a:solidFill>
                <a:latin typeface="Arial"/>
              </a:rPr>
              <a:t>5</a:t>
            </a:r>
          </a:p>
        </p:txBody>
      </p:sp>
      <p:sp>
        <p:nvSpPr>
          <p:cNvPr id="149" name="TextBox 148"/>
          <p:cNvSpPr txBox="1"/>
          <p:nvPr/>
        </p:nvSpPr>
        <p:spPr>
          <a:xfrm>
            <a:off x="11055096" y="9043415"/>
            <a:ext cx="1307592" cy="265176"/>
          </a:xfrm>
          <a:prstGeom prst="rect">
            <a:avLst/>
          </a:prstGeom>
          <a:noFill/>
        </p:spPr>
        <p:txBody>
          <a:bodyPr wrap="square" lIns="0" rIns="0" tIns="0" bIns="0" anchor="ctr">
            <a:spAutoFit/>
          </a:bodyPr>
          <a:lstStyle/>
          <a:p>
            <a:pPr algn="l">
              <a:lnSpc>
                <a:spcPct val="100000"/>
              </a:lnSpc>
              <a:spcBef>
                <a:spcPts val="0"/>
              </a:spcBef>
              <a:spcAft>
                <a:spcPts val="350"/>
              </a:spcAft>
            </a:pPr>
            <a:r>
              <a:rPr sz="1170" b="1" i="0">
                <a:solidFill>
                  <a:srgbClr val="456C91"/>
                </a:solidFill>
                <a:latin typeface="Arial"/>
              </a:rPr>
              <a:t>ANALYZE</a:t>
            </a:r>
          </a:p>
        </p:txBody>
      </p:sp>
      <p:sp>
        <p:nvSpPr>
          <p:cNvPr id="150" name="TextBox 149"/>
          <p:cNvSpPr txBox="1"/>
          <p:nvPr/>
        </p:nvSpPr>
        <p:spPr>
          <a:xfrm>
            <a:off x="12307824" y="9043415"/>
            <a:ext cx="7315200" cy="438912"/>
          </a:xfrm>
          <a:prstGeom prst="rect">
            <a:avLst/>
          </a:prstGeom>
          <a:noFill/>
        </p:spPr>
        <p:txBody>
          <a:bodyPr wrap="square" lIns="0" rIns="0" tIns="0" bIns="0" anchor="ctr">
            <a:spAutoFit/>
          </a:bodyPr>
          <a:lstStyle/>
          <a:p>
            <a:pPr algn="l">
              <a:lnSpc>
                <a:spcPct val="95000"/>
              </a:lnSpc>
              <a:spcBef>
                <a:spcPts val="0"/>
              </a:spcBef>
              <a:spcAft>
                <a:spcPts val="350"/>
              </a:spcAft>
            </a:pPr>
            <a:r>
              <a:rPr sz="1220" b="0" i="0">
                <a:solidFill>
                  <a:srgbClr val="233235"/>
                </a:solidFill>
                <a:latin typeface="Arial"/>
              </a:rPr>
              <a:t>Hotspots, risk queue, repeat reports and repair trends</a:t>
            </a:r>
          </a:p>
        </p:txBody>
      </p:sp>
      <p:sp>
        <p:nvSpPr>
          <p:cNvPr id="151" name="Rounded Rectangle 150"/>
          <p:cNvSpPr/>
          <p:nvPr/>
        </p:nvSpPr>
        <p:spPr>
          <a:xfrm>
            <a:off x="10616184" y="9701784"/>
            <a:ext cx="9070848" cy="493776"/>
          </a:xfrm>
          <a:prstGeom prst="roundRect">
            <a:avLst>
              <a:gd name="adj" fmla="val 8000"/>
            </a:avLst>
          </a:prstGeom>
          <a:solidFill>
            <a:srgbClr val="F5EACB"/>
          </a:solidFill>
          <a:ln w="11430">
            <a:solidFill>
              <a:srgbClr val="F5E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0725912" y="9747504"/>
            <a:ext cx="8851392" cy="384048"/>
          </a:xfrm>
          <a:prstGeom prst="rect">
            <a:avLst/>
          </a:prstGeom>
          <a:noFill/>
        </p:spPr>
        <p:txBody>
          <a:bodyPr wrap="square" lIns="0" rIns="0" tIns="0" bIns="0" anchor="ctr">
            <a:spAutoFit/>
          </a:bodyPr>
          <a:lstStyle/>
          <a:p>
            <a:pPr algn="l">
              <a:lnSpc>
                <a:spcPct val="95000"/>
              </a:lnSpc>
              <a:spcBef>
                <a:spcPts val="0"/>
              </a:spcBef>
              <a:spcAft>
                <a:spcPts val="350"/>
              </a:spcAft>
            </a:pPr>
            <a:r>
              <a:rPr sz="1180" b="1" i="0">
                <a:solidFill>
                  <a:srgbClr val="233235"/>
                </a:solidFill>
                <a:latin typeface="Arial"/>
              </a:rPr>
              <a:t>Integration status: dashboard layer is implemented; detector training, live ingestion and automatic geospatial grouping remain future work.</a:t>
            </a:r>
          </a:p>
        </p:txBody>
      </p:sp>
      <p:sp>
        <p:nvSpPr>
          <p:cNvPr id="153" name="Rounded Rectangle 152"/>
          <p:cNvSpPr/>
          <p:nvPr/>
        </p:nvSpPr>
        <p:spPr>
          <a:xfrm>
            <a:off x="10341864" y="10433304"/>
            <a:ext cx="9592056" cy="3913632"/>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0341864" y="10433304"/>
            <a:ext cx="91440" cy="3913632"/>
          </a:xfrm>
          <a:prstGeom prst="rect">
            <a:avLst/>
          </a:prstGeom>
          <a:solidFill>
            <a:srgbClr val="C35D40"/>
          </a:solidFill>
          <a:ln w="1143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0597896" y="10561320"/>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C35D40"/>
                </a:solidFill>
                <a:latin typeface="Arial"/>
              </a:rPr>
              <a:t>FROM COORDINATES TO ACTIONABLE INSIGHT</a:t>
            </a:r>
          </a:p>
        </p:txBody>
      </p:sp>
      <p:sp>
        <p:nvSpPr>
          <p:cNvPr id="156" name="Rounded Rectangle 155"/>
          <p:cNvSpPr/>
          <p:nvPr/>
        </p:nvSpPr>
        <p:spPr>
          <a:xfrm>
            <a:off x="10616184" y="11045952"/>
            <a:ext cx="9070848" cy="60350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10735056" y="11119104"/>
            <a:ext cx="1847088" cy="219456"/>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2F7375"/>
                </a:solidFill>
                <a:latin typeface="Arial"/>
              </a:rPr>
              <a:t>HOTSPOT RATE</a:t>
            </a:r>
          </a:p>
        </p:txBody>
      </p:sp>
      <p:sp>
        <p:nvSpPr>
          <p:cNvPr id="158" name="TextBox 157"/>
          <p:cNvSpPr txBox="1"/>
          <p:nvPr/>
        </p:nvSpPr>
        <p:spPr>
          <a:xfrm>
            <a:off x="12563856" y="11109960"/>
            <a:ext cx="6995160" cy="475488"/>
          </a:xfrm>
          <a:prstGeom prst="rect">
            <a:avLst/>
          </a:prstGeom>
          <a:noFill/>
        </p:spPr>
        <p:txBody>
          <a:bodyPr wrap="square" lIns="0" rIns="0" tIns="0" bIns="0" anchor="t">
            <a:spAutoFit/>
          </a:bodyPr>
          <a:lstStyle/>
          <a:p>
            <a:pPr algn="l">
              <a:lnSpc>
                <a:spcPct val="94000"/>
              </a:lnSpc>
              <a:spcBef>
                <a:spcPts val="0"/>
              </a:spcBef>
              <a:spcAft>
                <a:spcPts val="350"/>
              </a:spcAft>
            </a:pPr>
            <a:r>
              <a:rPr sz="1190" b="0" i="0">
                <a:solidFill>
                  <a:srgbClr val="233235"/>
                </a:solidFill>
                <a:latin typeface="Arial"/>
              </a:rPr>
              <a:t>Unique defects per road-kilometre per time window. Normalizes counts by segment length.</a:t>
            </a:r>
          </a:p>
        </p:txBody>
      </p:sp>
      <p:sp>
        <p:nvSpPr>
          <p:cNvPr id="159" name="Rounded Rectangle 158"/>
          <p:cNvSpPr/>
          <p:nvPr/>
        </p:nvSpPr>
        <p:spPr>
          <a:xfrm>
            <a:off x="10616184" y="11750040"/>
            <a:ext cx="9070848" cy="60350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10735056" y="11823192"/>
            <a:ext cx="1847088" cy="219456"/>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D1A23E"/>
                </a:solidFill>
                <a:latin typeface="Arial"/>
              </a:rPr>
              <a:t>CANDIDATE PRIORITY</a:t>
            </a:r>
          </a:p>
        </p:txBody>
      </p:sp>
      <p:sp>
        <p:nvSpPr>
          <p:cNvPr id="161" name="TextBox 160"/>
          <p:cNvSpPr txBox="1"/>
          <p:nvPr/>
        </p:nvSpPr>
        <p:spPr>
          <a:xfrm>
            <a:off x="12563856" y="11814048"/>
            <a:ext cx="6995160" cy="475488"/>
          </a:xfrm>
          <a:prstGeom prst="rect">
            <a:avLst/>
          </a:prstGeom>
          <a:noFill/>
        </p:spPr>
        <p:txBody>
          <a:bodyPr wrap="square" lIns="0" rIns="0" tIns="0" bIns="0" anchor="t">
            <a:spAutoFit/>
          </a:bodyPr>
          <a:lstStyle/>
          <a:p>
            <a:pPr algn="l">
              <a:lnSpc>
                <a:spcPct val="94000"/>
              </a:lnSpc>
              <a:spcBef>
                <a:spcPts val="0"/>
              </a:spcBef>
              <a:spcAft>
                <a:spcPts val="350"/>
              </a:spcAft>
            </a:pPr>
            <a:r>
              <a:rPr sz="1190" b="0" i="0">
                <a:solidFill>
                  <a:srgbClr val="233235"/>
                </a:solidFill>
                <a:latin typeface="Arial"/>
              </a:rPr>
              <a:t>Score = S × C × E. S = severity weight (1–4), C = detector confidence (0–1), E = exposure factor (1–3). Tune with municipal staff.</a:t>
            </a:r>
          </a:p>
        </p:txBody>
      </p:sp>
      <p:sp>
        <p:nvSpPr>
          <p:cNvPr id="162" name="Rounded Rectangle 161"/>
          <p:cNvSpPr/>
          <p:nvPr/>
        </p:nvSpPr>
        <p:spPr>
          <a:xfrm>
            <a:off x="10616184" y="12454128"/>
            <a:ext cx="9070848" cy="60350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10735056" y="12527280"/>
            <a:ext cx="1847088" cy="219456"/>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C35D40"/>
                </a:solidFill>
                <a:latin typeface="Arial"/>
              </a:rPr>
              <a:t>REPEAT REPORTS</a:t>
            </a:r>
          </a:p>
        </p:txBody>
      </p:sp>
      <p:sp>
        <p:nvSpPr>
          <p:cNvPr id="164" name="TextBox 163"/>
          <p:cNvSpPr txBox="1"/>
          <p:nvPr/>
        </p:nvSpPr>
        <p:spPr>
          <a:xfrm>
            <a:off x="12563856" y="12518136"/>
            <a:ext cx="6995160" cy="475488"/>
          </a:xfrm>
          <a:prstGeom prst="rect">
            <a:avLst/>
          </a:prstGeom>
          <a:noFill/>
        </p:spPr>
        <p:txBody>
          <a:bodyPr wrap="square" lIns="0" rIns="0" tIns="0" bIns="0" anchor="t">
            <a:spAutoFit/>
          </a:bodyPr>
          <a:lstStyle/>
          <a:p>
            <a:pPr algn="l">
              <a:lnSpc>
                <a:spcPct val="94000"/>
              </a:lnSpc>
              <a:spcBef>
                <a:spcPts val="0"/>
              </a:spcBef>
              <a:spcAft>
                <a:spcPts val="350"/>
              </a:spcAft>
            </a:pPr>
            <a:r>
              <a:rPr sz="1190" b="0" i="0">
                <a:solidFill>
                  <a:srgbClr val="233235"/>
                </a:solidFill>
                <a:latin typeface="Arial"/>
              </a:rPr>
              <a:t>Group reports when geographic distance ≤ r and time gap ≤ τ. Choose r and τ from GPS error and local reporting cadence.</a:t>
            </a:r>
          </a:p>
        </p:txBody>
      </p:sp>
      <p:sp>
        <p:nvSpPr>
          <p:cNvPr id="165" name="Rounded Rectangle 164"/>
          <p:cNvSpPr/>
          <p:nvPr/>
        </p:nvSpPr>
        <p:spPr>
          <a:xfrm>
            <a:off x="10616184" y="13158216"/>
            <a:ext cx="9070848" cy="603504"/>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0735056" y="13231368"/>
            <a:ext cx="1847088" cy="219456"/>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718F78"/>
                </a:solidFill>
                <a:latin typeface="Arial"/>
              </a:rPr>
              <a:t>MAINTENANCE PERFORMANCE</a:t>
            </a:r>
          </a:p>
        </p:txBody>
      </p:sp>
      <p:sp>
        <p:nvSpPr>
          <p:cNvPr id="167" name="TextBox 166"/>
          <p:cNvSpPr txBox="1"/>
          <p:nvPr/>
        </p:nvSpPr>
        <p:spPr>
          <a:xfrm>
            <a:off x="12563856" y="13222224"/>
            <a:ext cx="6995160" cy="475488"/>
          </a:xfrm>
          <a:prstGeom prst="rect">
            <a:avLst/>
          </a:prstGeom>
          <a:noFill/>
        </p:spPr>
        <p:txBody>
          <a:bodyPr wrap="square" lIns="0" rIns="0" tIns="0" bIns="0" anchor="t">
            <a:spAutoFit/>
          </a:bodyPr>
          <a:lstStyle/>
          <a:p>
            <a:pPr algn="l">
              <a:lnSpc>
                <a:spcPct val="94000"/>
              </a:lnSpc>
              <a:spcBef>
                <a:spcPts val="0"/>
              </a:spcBef>
              <a:spcAft>
                <a:spcPts val="350"/>
              </a:spcAft>
            </a:pPr>
            <a:r>
              <a:rPr sz="1190" b="0" i="0">
                <a:solidFill>
                  <a:srgbClr val="233235"/>
                </a:solidFill>
                <a:latin typeface="Arial"/>
              </a:rPr>
              <a:t>After durable timestamps are available: backlog by zone / crew, median detection-to-triage time and median time-to-repair.</a:t>
            </a:r>
          </a:p>
        </p:txBody>
      </p:sp>
      <p:sp>
        <p:nvSpPr>
          <p:cNvPr id="168" name="TextBox 167"/>
          <p:cNvSpPr txBox="1"/>
          <p:nvPr/>
        </p:nvSpPr>
        <p:spPr>
          <a:xfrm>
            <a:off x="10616184" y="13972032"/>
            <a:ext cx="9070848" cy="338328"/>
          </a:xfrm>
          <a:prstGeom prst="rect">
            <a:avLst/>
          </a:prstGeom>
          <a:noFill/>
        </p:spPr>
        <p:txBody>
          <a:bodyPr wrap="square" lIns="0" rIns="0" tIns="0" bIns="0" anchor="t">
            <a:spAutoFit/>
          </a:bodyPr>
          <a:lstStyle/>
          <a:p>
            <a:pPr algn="l">
              <a:lnSpc>
                <a:spcPct val="100000"/>
              </a:lnSpc>
              <a:spcBef>
                <a:spcPts val="0"/>
              </a:spcBef>
              <a:spcAft>
                <a:spcPts val="350"/>
              </a:spcAft>
            </a:pPr>
            <a:r>
              <a:rPr sz="1130" b="1" i="0">
                <a:solidFill>
                  <a:srgbClr val="6E7D80"/>
                </a:solidFill>
                <a:latin typeface="Arial"/>
              </a:rPr>
              <a:t>These are proposed analytics, not features currently reported by the interface.</a:t>
            </a:r>
          </a:p>
        </p:txBody>
      </p:sp>
      <p:sp>
        <p:nvSpPr>
          <p:cNvPr id="169" name="Rounded Rectangle 168"/>
          <p:cNvSpPr/>
          <p:nvPr/>
        </p:nvSpPr>
        <p:spPr>
          <a:xfrm>
            <a:off x="10341864" y="14511528"/>
            <a:ext cx="9592056" cy="5330952"/>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341864" y="14511528"/>
            <a:ext cx="91440" cy="5330952"/>
          </a:xfrm>
          <a:prstGeom prst="rect">
            <a:avLst/>
          </a:prstGeom>
          <a:solidFill>
            <a:srgbClr val="2F7375"/>
          </a:solidFill>
          <a:ln w="1143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0597896" y="14639544"/>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2F7375"/>
                </a:solidFill>
                <a:latin typeface="Arial"/>
              </a:rPr>
              <a:t>DATASET &amp; REPRODUCIBLE EVALUATION</a:t>
            </a:r>
          </a:p>
        </p:txBody>
      </p:sp>
      <p:sp>
        <p:nvSpPr>
          <p:cNvPr id="172" name="Rounded Rectangle 171"/>
          <p:cNvSpPr/>
          <p:nvPr/>
        </p:nvSpPr>
        <p:spPr>
          <a:xfrm>
            <a:off x="10616184" y="15124176"/>
            <a:ext cx="2199132" cy="731520"/>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10652760" y="15197328"/>
            <a:ext cx="2125979"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900" b="1" i="0">
                <a:solidFill>
                  <a:srgbClr val="2F7375"/>
                </a:solidFill>
                <a:latin typeface="Arial"/>
              </a:rPr>
              <a:t>47,420</a:t>
            </a:r>
          </a:p>
        </p:txBody>
      </p:sp>
      <p:sp>
        <p:nvSpPr>
          <p:cNvPr id="174" name="TextBox 173"/>
          <p:cNvSpPr txBox="1"/>
          <p:nvPr/>
        </p:nvSpPr>
        <p:spPr>
          <a:xfrm>
            <a:off x="10661904" y="15535656"/>
            <a:ext cx="2107691" cy="219456"/>
          </a:xfrm>
          <a:prstGeom prst="rect">
            <a:avLst/>
          </a:prstGeom>
          <a:noFill/>
        </p:spPr>
        <p:txBody>
          <a:bodyPr wrap="square" lIns="0" rIns="0" tIns="0" bIns="0" anchor="ctr">
            <a:spAutoFit/>
          </a:bodyPr>
          <a:lstStyle/>
          <a:p>
            <a:pPr algn="ctr">
              <a:lnSpc>
                <a:spcPct val="100000"/>
              </a:lnSpc>
              <a:spcBef>
                <a:spcPts val="0"/>
              </a:spcBef>
              <a:spcAft>
                <a:spcPts val="350"/>
              </a:spcAft>
            </a:pPr>
            <a:r>
              <a:rPr sz="1070" b="1" i="0">
                <a:solidFill>
                  <a:srgbClr val="233235"/>
                </a:solidFill>
                <a:latin typeface="Arial"/>
              </a:rPr>
              <a:t>images</a:t>
            </a:r>
          </a:p>
        </p:txBody>
      </p:sp>
      <p:sp>
        <p:nvSpPr>
          <p:cNvPr id="175" name="Rounded Rectangle 174"/>
          <p:cNvSpPr/>
          <p:nvPr/>
        </p:nvSpPr>
        <p:spPr>
          <a:xfrm>
            <a:off x="12906756" y="15124176"/>
            <a:ext cx="2199132" cy="731520"/>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12943332" y="15197328"/>
            <a:ext cx="2125979"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900" b="1" i="0">
                <a:solidFill>
                  <a:srgbClr val="2F7375"/>
                </a:solidFill>
                <a:latin typeface="Arial"/>
              </a:rPr>
              <a:t>55k+</a:t>
            </a:r>
          </a:p>
        </p:txBody>
      </p:sp>
      <p:sp>
        <p:nvSpPr>
          <p:cNvPr id="177" name="TextBox 176"/>
          <p:cNvSpPr txBox="1"/>
          <p:nvPr/>
        </p:nvSpPr>
        <p:spPr>
          <a:xfrm>
            <a:off x="12952476" y="15535656"/>
            <a:ext cx="2107691" cy="219456"/>
          </a:xfrm>
          <a:prstGeom prst="rect">
            <a:avLst/>
          </a:prstGeom>
          <a:noFill/>
        </p:spPr>
        <p:txBody>
          <a:bodyPr wrap="square" lIns="0" rIns="0" tIns="0" bIns="0" anchor="ctr">
            <a:spAutoFit/>
          </a:bodyPr>
          <a:lstStyle/>
          <a:p>
            <a:pPr algn="ctr">
              <a:lnSpc>
                <a:spcPct val="100000"/>
              </a:lnSpc>
              <a:spcBef>
                <a:spcPts val="0"/>
              </a:spcBef>
              <a:spcAft>
                <a:spcPts val="350"/>
              </a:spcAft>
            </a:pPr>
            <a:r>
              <a:rPr sz="1070" b="1" i="0">
                <a:solidFill>
                  <a:srgbClr val="233235"/>
                </a:solidFill>
                <a:latin typeface="Arial"/>
              </a:rPr>
              <a:t>damage instances</a:t>
            </a:r>
          </a:p>
        </p:txBody>
      </p:sp>
      <p:sp>
        <p:nvSpPr>
          <p:cNvPr id="178" name="Rounded Rectangle 177"/>
          <p:cNvSpPr/>
          <p:nvPr/>
        </p:nvSpPr>
        <p:spPr>
          <a:xfrm>
            <a:off x="15197328" y="15124176"/>
            <a:ext cx="2199132" cy="731520"/>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15233904" y="15197328"/>
            <a:ext cx="2125979"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900" b="1" i="0">
                <a:solidFill>
                  <a:srgbClr val="2F7375"/>
                </a:solidFill>
                <a:latin typeface="Arial"/>
              </a:rPr>
              <a:t>6</a:t>
            </a:r>
          </a:p>
        </p:txBody>
      </p:sp>
      <p:sp>
        <p:nvSpPr>
          <p:cNvPr id="180" name="TextBox 179"/>
          <p:cNvSpPr txBox="1"/>
          <p:nvPr/>
        </p:nvSpPr>
        <p:spPr>
          <a:xfrm>
            <a:off x="15243048" y="15535656"/>
            <a:ext cx="2107691" cy="219456"/>
          </a:xfrm>
          <a:prstGeom prst="rect">
            <a:avLst/>
          </a:prstGeom>
          <a:noFill/>
        </p:spPr>
        <p:txBody>
          <a:bodyPr wrap="square" lIns="0" rIns="0" tIns="0" bIns="0" anchor="ctr">
            <a:spAutoFit/>
          </a:bodyPr>
          <a:lstStyle/>
          <a:p>
            <a:pPr algn="ctr">
              <a:lnSpc>
                <a:spcPct val="100000"/>
              </a:lnSpc>
              <a:spcBef>
                <a:spcPts val="0"/>
              </a:spcBef>
              <a:spcAft>
                <a:spcPts val="350"/>
              </a:spcAft>
            </a:pPr>
            <a:r>
              <a:rPr sz="1070" b="1" i="0">
                <a:solidFill>
                  <a:srgbClr val="233235"/>
                </a:solidFill>
                <a:latin typeface="Arial"/>
              </a:rPr>
              <a:t>countries</a:t>
            </a:r>
          </a:p>
        </p:txBody>
      </p:sp>
      <p:sp>
        <p:nvSpPr>
          <p:cNvPr id="181" name="Rounded Rectangle 180"/>
          <p:cNvSpPr/>
          <p:nvPr/>
        </p:nvSpPr>
        <p:spPr>
          <a:xfrm>
            <a:off x="17487900" y="15124176"/>
            <a:ext cx="2199132" cy="731520"/>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17524476" y="15197328"/>
            <a:ext cx="2125979" cy="310896"/>
          </a:xfrm>
          <a:prstGeom prst="rect">
            <a:avLst/>
          </a:prstGeom>
          <a:noFill/>
        </p:spPr>
        <p:txBody>
          <a:bodyPr wrap="square" lIns="0" rIns="0" tIns="0" bIns="0" anchor="ctr">
            <a:spAutoFit/>
          </a:bodyPr>
          <a:lstStyle/>
          <a:p>
            <a:pPr algn="ctr">
              <a:lnSpc>
                <a:spcPct val="100000"/>
              </a:lnSpc>
              <a:spcBef>
                <a:spcPts val="0"/>
              </a:spcBef>
              <a:spcAft>
                <a:spcPts val="350"/>
              </a:spcAft>
            </a:pPr>
            <a:r>
              <a:rPr sz="1900" b="1" i="0">
                <a:solidFill>
                  <a:srgbClr val="2F7375"/>
                </a:solidFill>
                <a:latin typeface="Arial"/>
              </a:rPr>
              <a:t>4</a:t>
            </a:r>
          </a:p>
        </p:txBody>
      </p:sp>
      <p:sp>
        <p:nvSpPr>
          <p:cNvPr id="183" name="TextBox 182"/>
          <p:cNvSpPr txBox="1"/>
          <p:nvPr/>
        </p:nvSpPr>
        <p:spPr>
          <a:xfrm>
            <a:off x="17533620" y="15535656"/>
            <a:ext cx="2107691" cy="219456"/>
          </a:xfrm>
          <a:prstGeom prst="rect">
            <a:avLst/>
          </a:prstGeom>
          <a:noFill/>
        </p:spPr>
        <p:txBody>
          <a:bodyPr wrap="square" lIns="0" rIns="0" tIns="0" bIns="0" anchor="ctr">
            <a:spAutoFit/>
          </a:bodyPr>
          <a:lstStyle/>
          <a:p>
            <a:pPr algn="ctr">
              <a:lnSpc>
                <a:spcPct val="100000"/>
              </a:lnSpc>
              <a:spcBef>
                <a:spcPts val="0"/>
              </a:spcBef>
              <a:spcAft>
                <a:spcPts val="350"/>
              </a:spcAft>
            </a:pPr>
            <a:r>
              <a:rPr sz="1070" b="1" i="0">
                <a:solidFill>
                  <a:srgbClr val="233235"/>
                </a:solidFill>
                <a:latin typeface="Arial"/>
              </a:rPr>
              <a:t>damage classes</a:t>
            </a:r>
          </a:p>
        </p:txBody>
      </p:sp>
      <p:sp>
        <p:nvSpPr>
          <p:cNvPr id="184" name="TextBox 183"/>
          <p:cNvSpPr txBox="1"/>
          <p:nvPr/>
        </p:nvSpPr>
        <p:spPr>
          <a:xfrm>
            <a:off x="10616184" y="15992856"/>
            <a:ext cx="9070848" cy="713232"/>
          </a:xfrm>
          <a:prstGeom prst="rect">
            <a:avLst/>
          </a:prstGeom>
          <a:noFill/>
        </p:spPr>
        <p:txBody>
          <a:bodyPr wrap="square" lIns="0" rIns="0" tIns="0" bIns="0" anchor="t">
            <a:spAutoFit/>
          </a:bodyPr>
          <a:lstStyle/>
          <a:p>
            <a:pPr algn="l">
              <a:lnSpc>
                <a:spcPct val="95000"/>
              </a:lnSpc>
              <a:spcBef>
                <a:spcPts val="0"/>
              </a:spcBef>
              <a:spcAft>
                <a:spcPts val="350"/>
              </a:spcAft>
            </a:pPr>
            <a:r>
              <a:rPr sz="1260" b="0" i="0">
                <a:solidFill>
                  <a:srgbClr val="233235"/>
                </a:solidFill>
                <a:latin typeface="Arial"/>
              </a:rPr>
              <a:t>RDD2022 is an external benchmark described in the literature, with images from India and five other countries. Its labelled road damage includes longitudinal cracks, transverse cracks, alligator cracks and potholes. It is a candidate data source; it is not connected to the current dashboard.</a:t>
            </a:r>
          </a:p>
        </p:txBody>
      </p:sp>
      <p:sp>
        <p:nvSpPr>
          <p:cNvPr id="185" name="TextBox 184"/>
          <p:cNvSpPr txBox="1"/>
          <p:nvPr/>
        </p:nvSpPr>
        <p:spPr>
          <a:xfrm>
            <a:off x="10616184" y="16806672"/>
            <a:ext cx="3657600" cy="201168"/>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F7375"/>
                </a:solidFill>
                <a:latin typeface="Arial"/>
              </a:rPr>
              <a:t>SUGGESTED EXPERIMENT PROTOCOL</a:t>
            </a:r>
          </a:p>
        </p:txBody>
      </p:sp>
      <p:sp>
        <p:nvSpPr>
          <p:cNvPr id="186" name="TextBox 185"/>
          <p:cNvSpPr txBox="1"/>
          <p:nvPr/>
        </p:nvSpPr>
        <p:spPr>
          <a:xfrm>
            <a:off x="10616184" y="17062704"/>
            <a:ext cx="7955279" cy="1965960"/>
          </a:xfrm>
          <a:prstGeom prst="rect">
            <a:avLst/>
          </a:prstGeom>
          <a:noFill/>
        </p:spPr>
        <p:txBody>
          <a:bodyPr wrap="square" lIns="0" rIns="0" tIns="0" bIns="0" anchor="t">
            <a:spAutoFit/>
          </a:bodyPr>
          <a:lstStyle/>
          <a:p>
            <a:pPr algn="l">
              <a:lnSpc>
                <a:spcPct val="95000"/>
              </a:lnSpc>
              <a:spcBef>
                <a:spcPts val="0"/>
              </a:spcBef>
              <a:spcAft>
                <a:spcPts val="350"/>
              </a:spcAft>
            </a:pPr>
            <a:r>
              <a:rPr sz="1270" b="0" i="0">
                <a:solidFill>
                  <a:srgbClr val="233235"/>
                </a:solidFill>
                <a:latin typeface="Arial"/>
              </a:rPr>
              <a:t>1  Split by route / recording session, not adjacent frames.</a:t>
            </a:r>
          </a:p>
          <a:p>
            <a:pPr algn="l">
              <a:lnSpc>
                <a:spcPct val="95000"/>
              </a:lnSpc>
              <a:spcBef>
                <a:spcPts val="0"/>
              </a:spcBef>
              <a:spcAft>
                <a:spcPts val="350"/>
              </a:spcAft>
            </a:pPr>
            <a:r>
              <a:rPr sz="1270" b="0" i="0">
                <a:solidFill>
                  <a:srgbClr val="233235"/>
                </a:solidFill>
                <a:latin typeface="Arial"/>
              </a:rPr>
              <a:t>2  Report class counts and imbalance before training.</a:t>
            </a:r>
          </a:p>
          <a:p>
            <a:pPr algn="l">
              <a:lnSpc>
                <a:spcPct val="95000"/>
              </a:lnSpc>
              <a:spcBef>
                <a:spcPts val="0"/>
              </a:spcBef>
              <a:spcAft>
                <a:spcPts val="350"/>
              </a:spcAft>
            </a:pPr>
            <a:r>
              <a:rPr sz="1270" b="0" i="0">
                <a:solidFill>
                  <a:srgbClr val="233235"/>
                </a:solidFill>
                <a:latin typeface="Arial"/>
              </a:rPr>
              <a:t>3  Compare a baseline detector with a tuned candidate.</a:t>
            </a:r>
          </a:p>
          <a:p>
            <a:pPr algn="l">
              <a:lnSpc>
                <a:spcPct val="95000"/>
              </a:lnSpc>
              <a:spcBef>
                <a:spcPts val="0"/>
              </a:spcBef>
              <a:spcAft>
                <a:spcPts val="350"/>
              </a:spcAft>
            </a:pPr>
            <a:r>
              <a:rPr sz="1270" b="0" i="0">
                <a:solidFill>
                  <a:srgbClr val="233235"/>
                </a:solidFill>
                <a:latin typeface="Arial"/>
              </a:rPr>
              <a:t>4  Validate on a held-out set; then test Chennai-specific roads, daylight, rain, blur and camera angles.</a:t>
            </a:r>
          </a:p>
          <a:p>
            <a:pPr algn="l">
              <a:lnSpc>
                <a:spcPct val="95000"/>
              </a:lnSpc>
              <a:spcBef>
                <a:spcPts val="0"/>
              </a:spcBef>
              <a:spcAft>
                <a:spcPts val="350"/>
              </a:spcAft>
            </a:pPr>
            <a:r>
              <a:rPr sz="1270" b="0" i="0">
                <a:solidFill>
                  <a:srgbClr val="233235"/>
                </a:solidFill>
                <a:latin typeface="Arial"/>
              </a:rPr>
              <a:t>5  Freeze thresholds before reporting final scores.</a:t>
            </a:r>
          </a:p>
        </p:txBody>
      </p:sp>
      <p:pic>
        <p:nvPicPr>
          <p:cNvPr id="187" name="Picture 186" descr="rdd2022_qr.png"/>
          <p:cNvPicPr>
            <a:picLocks noChangeAspect="1"/>
          </p:cNvPicPr>
          <p:nvPr/>
        </p:nvPicPr>
        <p:blipFill>
          <a:blip r:embed="rId2"/>
          <a:stretch>
            <a:fillRect/>
          </a:stretch>
        </p:blipFill>
        <p:spPr>
          <a:xfrm>
            <a:off x="18772632" y="17455896"/>
            <a:ext cx="786384" cy="786384"/>
          </a:xfrm>
          <a:prstGeom prst="rect">
            <a:avLst/>
          </a:prstGeom>
        </p:spPr>
      </p:pic>
      <p:sp>
        <p:nvSpPr>
          <p:cNvPr id="188" name="TextBox 187"/>
          <p:cNvSpPr txBox="1"/>
          <p:nvPr/>
        </p:nvSpPr>
        <p:spPr>
          <a:xfrm>
            <a:off x="18681192" y="18278856"/>
            <a:ext cx="969264" cy="365760"/>
          </a:xfrm>
          <a:prstGeom prst="rect">
            <a:avLst/>
          </a:prstGeom>
          <a:noFill/>
        </p:spPr>
        <p:txBody>
          <a:bodyPr wrap="square" lIns="0" rIns="0" tIns="0" bIns="0" anchor="t">
            <a:spAutoFit/>
          </a:bodyPr>
          <a:lstStyle/>
          <a:p>
            <a:pPr algn="ctr">
              <a:lnSpc>
                <a:spcPct val="90000"/>
              </a:lnSpc>
              <a:spcBef>
                <a:spcPts val="0"/>
              </a:spcBef>
              <a:spcAft>
                <a:spcPts val="350"/>
              </a:spcAft>
            </a:pPr>
            <a:r>
              <a:rPr sz="950" b="1" i="0">
                <a:solidFill>
                  <a:srgbClr val="6E7D80"/>
                </a:solidFill>
                <a:latin typeface="Arial"/>
              </a:rPr>
              <a:t>RDD2022</a:t>
            </a:r>
          </a:p>
          <a:p>
            <a:pPr algn="ctr">
              <a:lnSpc>
                <a:spcPct val="90000"/>
              </a:lnSpc>
              <a:spcBef>
                <a:spcPts val="0"/>
              </a:spcBef>
              <a:spcAft>
                <a:spcPts val="350"/>
              </a:spcAft>
            </a:pPr>
            <a:r>
              <a:rPr sz="950" b="1" i="0">
                <a:solidFill>
                  <a:srgbClr val="6E7D80"/>
                </a:solidFill>
                <a:latin typeface="Arial"/>
              </a:rPr>
              <a:t>paper</a:t>
            </a:r>
          </a:p>
        </p:txBody>
      </p:sp>
      <p:sp>
        <p:nvSpPr>
          <p:cNvPr id="189" name="Rounded Rectangle 188"/>
          <p:cNvSpPr/>
          <p:nvPr/>
        </p:nvSpPr>
        <p:spPr>
          <a:xfrm>
            <a:off x="10616184" y="19101816"/>
            <a:ext cx="9070848" cy="438912"/>
          </a:xfrm>
          <a:prstGeom prst="roundRect">
            <a:avLst>
              <a:gd name="adj" fmla="val 8000"/>
            </a:avLst>
          </a:prstGeom>
          <a:solidFill>
            <a:srgbClr val="F4E2DC"/>
          </a:solidFill>
          <a:ln w="11430">
            <a:solidFill>
              <a:srgbClr val="F4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0725912" y="19147536"/>
            <a:ext cx="8851392" cy="338328"/>
          </a:xfrm>
          <a:prstGeom prst="rect">
            <a:avLst/>
          </a:prstGeom>
          <a:noFill/>
        </p:spPr>
        <p:txBody>
          <a:bodyPr wrap="square" lIns="0" rIns="0" tIns="0" bIns="0" anchor="ctr">
            <a:spAutoFit/>
          </a:bodyPr>
          <a:lstStyle/>
          <a:p>
            <a:pPr algn="l">
              <a:lnSpc>
                <a:spcPct val="100000"/>
              </a:lnSpc>
              <a:spcBef>
                <a:spcPts val="0"/>
              </a:spcBef>
              <a:spcAft>
                <a:spcPts val="350"/>
              </a:spcAft>
            </a:pPr>
            <a:r>
              <a:rPr sz="1160" b="1" i="0">
                <a:solidFill>
                  <a:srgbClr val="233235"/>
                </a:solidFill>
                <a:latin typeface="Arial"/>
              </a:rPr>
              <a:t>Local calibration is essential: benchmark performance may not transfer to Chennai traffic, climate, camera and road-surface conditions.</a:t>
            </a:r>
          </a:p>
        </p:txBody>
      </p:sp>
      <p:sp>
        <p:nvSpPr>
          <p:cNvPr id="191" name="Rounded Rectangle 190"/>
          <p:cNvSpPr/>
          <p:nvPr/>
        </p:nvSpPr>
        <p:spPr>
          <a:xfrm>
            <a:off x="20226528" y="3246120"/>
            <a:ext cx="9592056" cy="3840480"/>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20226528" y="3246120"/>
            <a:ext cx="91440" cy="3840480"/>
          </a:xfrm>
          <a:prstGeom prst="rect">
            <a:avLst/>
          </a:prstGeom>
          <a:solidFill>
            <a:srgbClr val="C35D40"/>
          </a:solidFill>
          <a:ln w="1143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20482560" y="3374136"/>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C35D40"/>
                </a:solidFill>
                <a:latin typeface="Arial"/>
              </a:rPr>
              <a:t>VALIDATION SCORECARD</a:t>
            </a:r>
          </a:p>
        </p:txBody>
      </p:sp>
      <p:sp>
        <p:nvSpPr>
          <p:cNvPr id="194" name="Rounded Rectangle 193"/>
          <p:cNvSpPr/>
          <p:nvPr/>
        </p:nvSpPr>
        <p:spPr>
          <a:xfrm>
            <a:off x="26691336" y="3465575"/>
            <a:ext cx="2834640" cy="274320"/>
          </a:xfrm>
          <a:prstGeom prst="roundRect">
            <a:avLst>
              <a:gd name="adj" fmla="val 8000"/>
            </a:avLst>
          </a:prstGeom>
          <a:solidFill>
            <a:srgbClr val="F4E2DC"/>
          </a:solidFill>
          <a:ln w="11430">
            <a:solidFill>
              <a:srgbClr val="F4E2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26737056" y="3474719"/>
            <a:ext cx="2743200" cy="256031"/>
          </a:xfrm>
          <a:prstGeom prst="rect">
            <a:avLst/>
          </a:prstGeom>
          <a:noFill/>
        </p:spPr>
        <p:txBody>
          <a:bodyPr wrap="square" lIns="0" rIns="0" tIns="0" bIns="0" anchor="ctr">
            <a:spAutoFit/>
          </a:bodyPr>
          <a:lstStyle/>
          <a:p>
            <a:pPr algn="ctr">
              <a:lnSpc>
                <a:spcPct val="100000"/>
              </a:lnSpc>
              <a:spcBef>
                <a:spcPts val="0"/>
              </a:spcBef>
              <a:spcAft>
                <a:spcPts val="350"/>
              </a:spcAft>
            </a:pPr>
            <a:r>
              <a:rPr sz="1030" b="1" i="0">
                <a:solidFill>
                  <a:srgbClr val="C35D40"/>
                </a:solidFill>
                <a:latin typeface="Arial"/>
              </a:rPr>
              <a:t>METRICS TO MEASURE</a:t>
            </a:r>
          </a:p>
        </p:txBody>
      </p:sp>
      <p:sp>
        <p:nvSpPr>
          <p:cNvPr id="196" name="Rounded Rectangle 195"/>
          <p:cNvSpPr/>
          <p:nvPr/>
        </p:nvSpPr>
        <p:spPr>
          <a:xfrm>
            <a:off x="20500848" y="3858768"/>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20592288" y="3922776"/>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C35D40"/>
                </a:solidFill>
                <a:latin typeface="Arial"/>
              </a:rPr>
              <a:t>PRECISION</a:t>
            </a:r>
          </a:p>
        </p:txBody>
      </p:sp>
      <p:sp>
        <p:nvSpPr>
          <p:cNvPr id="198" name="TextBox 197"/>
          <p:cNvSpPr txBox="1"/>
          <p:nvPr/>
        </p:nvSpPr>
        <p:spPr>
          <a:xfrm>
            <a:off x="20592288" y="4114800"/>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TP / (TP + FP)</a:t>
            </a:r>
          </a:p>
        </p:txBody>
      </p:sp>
      <p:sp>
        <p:nvSpPr>
          <p:cNvPr id="199" name="TextBox 198"/>
          <p:cNvSpPr txBox="1"/>
          <p:nvPr/>
        </p:nvSpPr>
        <p:spPr>
          <a:xfrm>
            <a:off x="20592288" y="4279392"/>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How many flagged objects are correct?</a:t>
            </a:r>
          </a:p>
        </p:txBody>
      </p:sp>
      <p:sp>
        <p:nvSpPr>
          <p:cNvPr id="200" name="Rounded Rectangle 199"/>
          <p:cNvSpPr/>
          <p:nvPr/>
        </p:nvSpPr>
        <p:spPr>
          <a:xfrm>
            <a:off x="25091136" y="3858768"/>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25182576" y="3922776"/>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2F7375"/>
                </a:solidFill>
                <a:latin typeface="Arial"/>
              </a:rPr>
              <a:t>RECALL</a:t>
            </a:r>
          </a:p>
        </p:txBody>
      </p:sp>
      <p:sp>
        <p:nvSpPr>
          <p:cNvPr id="202" name="TextBox 201"/>
          <p:cNvSpPr txBox="1"/>
          <p:nvPr/>
        </p:nvSpPr>
        <p:spPr>
          <a:xfrm>
            <a:off x="25182576" y="4114800"/>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TP / (TP + FN)</a:t>
            </a:r>
          </a:p>
        </p:txBody>
      </p:sp>
      <p:sp>
        <p:nvSpPr>
          <p:cNvPr id="203" name="TextBox 202"/>
          <p:cNvSpPr txBox="1"/>
          <p:nvPr/>
        </p:nvSpPr>
        <p:spPr>
          <a:xfrm>
            <a:off x="25182576" y="4279392"/>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How many real defects are found?</a:t>
            </a:r>
          </a:p>
        </p:txBody>
      </p:sp>
      <p:sp>
        <p:nvSpPr>
          <p:cNvPr id="204" name="Rounded Rectangle 203"/>
          <p:cNvSpPr/>
          <p:nvPr/>
        </p:nvSpPr>
        <p:spPr>
          <a:xfrm>
            <a:off x="20500848" y="4572000"/>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20592288" y="4636008"/>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D1A23E"/>
                </a:solidFill>
                <a:latin typeface="Arial"/>
              </a:rPr>
              <a:t>F1 SCORE</a:t>
            </a:r>
          </a:p>
        </p:txBody>
      </p:sp>
      <p:sp>
        <p:nvSpPr>
          <p:cNvPr id="206" name="TextBox 205"/>
          <p:cNvSpPr txBox="1"/>
          <p:nvPr/>
        </p:nvSpPr>
        <p:spPr>
          <a:xfrm>
            <a:off x="20592288" y="4828032"/>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2PR / (P + R)</a:t>
            </a:r>
          </a:p>
        </p:txBody>
      </p:sp>
      <p:sp>
        <p:nvSpPr>
          <p:cNvPr id="207" name="TextBox 206"/>
          <p:cNvSpPr txBox="1"/>
          <p:nvPr/>
        </p:nvSpPr>
        <p:spPr>
          <a:xfrm>
            <a:off x="20592288" y="4992624"/>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Balance of precision and recall.</a:t>
            </a:r>
          </a:p>
        </p:txBody>
      </p:sp>
      <p:sp>
        <p:nvSpPr>
          <p:cNvPr id="208" name="Rounded Rectangle 207"/>
          <p:cNvSpPr/>
          <p:nvPr/>
        </p:nvSpPr>
        <p:spPr>
          <a:xfrm>
            <a:off x="25091136" y="4572000"/>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25182576" y="4636008"/>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718F78"/>
                </a:solidFill>
                <a:latin typeface="Arial"/>
              </a:rPr>
              <a:t>mAP@0.5</a:t>
            </a:r>
          </a:p>
        </p:txBody>
      </p:sp>
      <p:sp>
        <p:nvSpPr>
          <p:cNvPr id="210" name="TextBox 209"/>
          <p:cNvSpPr txBox="1"/>
          <p:nvPr/>
        </p:nvSpPr>
        <p:spPr>
          <a:xfrm>
            <a:off x="25182576" y="4828032"/>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Mean AP at IoU = 0.50</a:t>
            </a:r>
          </a:p>
        </p:txBody>
      </p:sp>
      <p:sp>
        <p:nvSpPr>
          <p:cNvPr id="211" name="TextBox 210"/>
          <p:cNvSpPr txBox="1"/>
          <p:nvPr/>
        </p:nvSpPr>
        <p:spPr>
          <a:xfrm>
            <a:off x="25182576" y="4992624"/>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Detection quality across classes.</a:t>
            </a:r>
          </a:p>
        </p:txBody>
      </p:sp>
      <p:sp>
        <p:nvSpPr>
          <p:cNvPr id="212" name="Rounded Rectangle 211"/>
          <p:cNvSpPr/>
          <p:nvPr/>
        </p:nvSpPr>
        <p:spPr>
          <a:xfrm>
            <a:off x="20500848" y="5285231"/>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20592288" y="5349240"/>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C35D40"/>
                </a:solidFill>
                <a:latin typeface="Arial"/>
              </a:rPr>
              <a:t>LATENCY</a:t>
            </a:r>
          </a:p>
        </p:txBody>
      </p:sp>
      <p:sp>
        <p:nvSpPr>
          <p:cNvPr id="214" name="TextBox 213"/>
          <p:cNvSpPr txBox="1"/>
          <p:nvPr/>
        </p:nvSpPr>
        <p:spPr>
          <a:xfrm>
            <a:off x="20592288" y="5541264"/>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ms/frame or FPS</a:t>
            </a:r>
          </a:p>
        </p:txBody>
      </p:sp>
      <p:sp>
        <p:nvSpPr>
          <p:cNvPr id="215" name="TextBox 214"/>
          <p:cNvSpPr txBox="1"/>
          <p:nvPr/>
        </p:nvSpPr>
        <p:spPr>
          <a:xfrm>
            <a:off x="20592288" y="5705855"/>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Can inference keep up with capture?</a:t>
            </a:r>
          </a:p>
        </p:txBody>
      </p:sp>
      <p:sp>
        <p:nvSpPr>
          <p:cNvPr id="216" name="Rounded Rectangle 215"/>
          <p:cNvSpPr/>
          <p:nvPr/>
        </p:nvSpPr>
        <p:spPr>
          <a:xfrm>
            <a:off x="25091136" y="5285231"/>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25182576" y="5349240"/>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2F7375"/>
                </a:solidFill>
                <a:latin typeface="Arial"/>
              </a:rPr>
              <a:t>LOCATION ERROR</a:t>
            </a:r>
          </a:p>
        </p:txBody>
      </p:sp>
      <p:sp>
        <p:nvSpPr>
          <p:cNvPr id="218" name="TextBox 217"/>
          <p:cNvSpPr txBox="1"/>
          <p:nvPr/>
        </p:nvSpPr>
        <p:spPr>
          <a:xfrm>
            <a:off x="25182576" y="5541264"/>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Median + 95th percentile (m)</a:t>
            </a:r>
          </a:p>
        </p:txBody>
      </p:sp>
      <p:sp>
        <p:nvSpPr>
          <p:cNvPr id="219" name="TextBox 218"/>
          <p:cNvSpPr txBox="1"/>
          <p:nvPr/>
        </p:nvSpPr>
        <p:spPr>
          <a:xfrm>
            <a:off x="25182576" y="5705855"/>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Are mapped detections near the road?</a:t>
            </a:r>
          </a:p>
        </p:txBody>
      </p:sp>
      <p:sp>
        <p:nvSpPr>
          <p:cNvPr id="220" name="Rounded Rectangle 219"/>
          <p:cNvSpPr/>
          <p:nvPr/>
        </p:nvSpPr>
        <p:spPr>
          <a:xfrm>
            <a:off x="20500848" y="5998464"/>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20592288" y="6062472"/>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D1A23E"/>
                </a:solidFill>
                <a:latin typeface="Arial"/>
              </a:rPr>
              <a:t>DUPLICATE RATE</a:t>
            </a:r>
          </a:p>
        </p:txBody>
      </p:sp>
      <p:sp>
        <p:nvSpPr>
          <p:cNvPr id="222" name="TextBox 221"/>
          <p:cNvSpPr txBox="1"/>
          <p:nvPr/>
        </p:nvSpPr>
        <p:spPr>
          <a:xfrm>
            <a:off x="20592288" y="6254496"/>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Repeated reports / km / period</a:t>
            </a:r>
          </a:p>
        </p:txBody>
      </p:sp>
      <p:sp>
        <p:nvSpPr>
          <p:cNvPr id="223" name="TextBox 222"/>
          <p:cNvSpPr txBox="1"/>
          <p:nvPr/>
        </p:nvSpPr>
        <p:spPr>
          <a:xfrm>
            <a:off x="20592288" y="6419088"/>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Are repeated sightings merged?</a:t>
            </a:r>
          </a:p>
        </p:txBody>
      </p:sp>
      <p:sp>
        <p:nvSpPr>
          <p:cNvPr id="224" name="Rounded Rectangle 223"/>
          <p:cNvSpPr/>
          <p:nvPr/>
        </p:nvSpPr>
        <p:spPr>
          <a:xfrm>
            <a:off x="25091136" y="5998464"/>
            <a:ext cx="4480560" cy="640080"/>
          </a:xfrm>
          <a:prstGeom prst="roundRect">
            <a:avLst>
              <a:gd name="adj" fmla="val 8000"/>
            </a:avLst>
          </a:prstGeom>
          <a:solidFill>
            <a:srgbClr val="FBFAF7"/>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TextBox 224"/>
          <p:cNvSpPr txBox="1"/>
          <p:nvPr/>
        </p:nvSpPr>
        <p:spPr>
          <a:xfrm>
            <a:off x="25182576" y="6062472"/>
            <a:ext cx="4297680" cy="182880"/>
          </a:xfrm>
          <a:prstGeom prst="rect">
            <a:avLst/>
          </a:prstGeom>
          <a:noFill/>
        </p:spPr>
        <p:txBody>
          <a:bodyPr wrap="square" lIns="0" rIns="0" tIns="0" bIns="0" anchor="t">
            <a:spAutoFit/>
          </a:bodyPr>
          <a:lstStyle/>
          <a:p>
            <a:pPr algn="l">
              <a:lnSpc>
                <a:spcPct val="100000"/>
              </a:lnSpc>
              <a:spcBef>
                <a:spcPts val="0"/>
              </a:spcBef>
              <a:spcAft>
                <a:spcPts val="350"/>
              </a:spcAft>
            </a:pPr>
            <a:r>
              <a:rPr sz="1070" b="1" i="0">
                <a:solidFill>
                  <a:srgbClr val="718F78"/>
                </a:solidFill>
                <a:latin typeface="Arial"/>
              </a:rPr>
              <a:t>SERVICE TIMES</a:t>
            </a:r>
          </a:p>
        </p:txBody>
      </p:sp>
      <p:sp>
        <p:nvSpPr>
          <p:cNvPr id="226" name="TextBox 225"/>
          <p:cNvSpPr txBox="1"/>
          <p:nvPr/>
        </p:nvSpPr>
        <p:spPr>
          <a:xfrm>
            <a:off x="25182576" y="6254496"/>
            <a:ext cx="4297680" cy="164592"/>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33235"/>
                </a:solidFill>
                <a:latin typeface="Arial"/>
              </a:rPr>
              <a:t>Median triage / repair time</a:t>
            </a:r>
          </a:p>
        </p:txBody>
      </p:sp>
      <p:sp>
        <p:nvSpPr>
          <p:cNvPr id="227" name="TextBox 226"/>
          <p:cNvSpPr txBox="1"/>
          <p:nvPr/>
        </p:nvSpPr>
        <p:spPr>
          <a:xfrm>
            <a:off x="25182576" y="6419088"/>
            <a:ext cx="4297680" cy="192024"/>
          </a:xfrm>
          <a:prstGeom prst="rect">
            <a:avLst/>
          </a:prstGeom>
          <a:noFill/>
        </p:spPr>
        <p:txBody>
          <a:bodyPr wrap="square" lIns="0" rIns="0" tIns="0" bIns="0" anchor="t">
            <a:spAutoFit/>
          </a:bodyPr>
          <a:lstStyle/>
          <a:p>
            <a:pPr algn="l">
              <a:lnSpc>
                <a:spcPct val="100000"/>
              </a:lnSpc>
              <a:spcBef>
                <a:spcPts val="0"/>
              </a:spcBef>
              <a:spcAft>
                <a:spcPts val="350"/>
              </a:spcAft>
            </a:pPr>
            <a:r>
              <a:rPr sz="1030" b="0" i="0">
                <a:solidFill>
                  <a:srgbClr val="435256"/>
                </a:solidFill>
                <a:latin typeface="Arial"/>
              </a:rPr>
              <a:t>Does workflow performance improve?</a:t>
            </a:r>
          </a:p>
        </p:txBody>
      </p:sp>
      <p:sp>
        <p:nvSpPr>
          <p:cNvPr id="228" name="TextBox 227"/>
          <p:cNvSpPr txBox="1"/>
          <p:nvPr/>
        </p:nvSpPr>
        <p:spPr>
          <a:xfrm>
            <a:off x="20500848" y="6766560"/>
            <a:ext cx="9070848" cy="265176"/>
          </a:xfrm>
          <a:prstGeom prst="rect">
            <a:avLst/>
          </a:prstGeom>
          <a:noFill/>
        </p:spPr>
        <p:txBody>
          <a:bodyPr wrap="square" lIns="0" rIns="0" tIns="0" bIns="0" anchor="t">
            <a:spAutoFit/>
          </a:bodyPr>
          <a:lstStyle/>
          <a:p>
            <a:pPr algn="l">
              <a:lnSpc>
                <a:spcPct val="100000"/>
              </a:lnSpc>
              <a:spcBef>
                <a:spcPts val="0"/>
              </a:spcBef>
              <a:spcAft>
                <a:spcPts val="350"/>
              </a:spcAft>
            </a:pPr>
            <a:r>
              <a:rPr sz="1170" b="1" i="0">
                <a:solidFill>
                  <a:srgbClr val="C35D40"/>
                </a:solidFill>
                <a:latin typeface="Arial"/>
              </a:rPr>
              <a:t>No model accuracy or field-impact values are claimed until measured on a documented holdout / pilot.</a:t>
            </a:r>
          </a:p>
        </p:txBody>
      </p:sp>
      <p:sp>
        <p:nvSpPr>
          <p:cNvPr id="229" name="Rounded Rectangle 228"/>
          <p:cNvSpPr/>
          <p:nvPr/>
        </p:nvSpPr>
        <p:spPr>
          <a:xfrm>
            <a:off x="20226528" y="7251192"/>
            <a:ext cx="9592056" cy="3200400"/>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20226528" y="7251192"/>
            <a:ext cx="91440" cy="3200400"/>
          </a:xfrm>
          <a:prstGeom prst="rect">
            <a:avLst/>
          </a:prstGeom>
          <a:solidFill>
            <a:srgbClr val="2F7375"/>
          </a:solidFill>
          <a:ln w="1143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20482560" y="7379208"/>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2F7375"/>
                </a:solidFill>
                <a:latin typeface="Arial"/>
              </a:rPr>
              <a:t>INTERFACE VERIFICATION PLAN</a:t>
            </a:r>
          </a:p>
        </p:txBody>
      </p:sp>
      <p:sp>
        <p:nvSpPr>
          <p:cNvPr id="232" name="TextBox 231"/>
          <p:cNvSpPr txBox="1"/>
          <p:nvPr/>
        </p:nvSpPr>
        <p:spPr>
          <a:xfrm>
            <a:off x="20500848" y="7863840"/>
            <a:ext cx="4425696" cy="1554480"/>
          </a:xfrm>
          <a:prstGeom prst="rect">
            <a:avLst/>
          </a:prstGeom>
          <a:noFill/>
        </p:spPr>
        <p:txBody>
          <a:bodyPr wrap="square" lIns="0" rIns="0" tIns="0" bIns="0" anchor="t">
            <a:spAutoFit/>
          </a:bodyPr>
          <a:lstStyle/>
          <a:p>
            <a:pPr algn="l">
              <a:lnSpc>
                <a:spcPct val="95000"/>
              </a:lnSpc>
              <a:spcBef>
                <a:spcPts val="0"/>
              </a:spcBef>
              <a:spcAft>
                <a:spcPts val="350"/>
              </a:spcAft>
            </a:pPr>
            <a:r>
              <a:rPr sz="1230" b="0" i="0">
                <a:solidFill>
                  <a:srgbClr val="233235"/>
                </a:solidFill>
                <a:latin typeface="Arial"/>
              </a:rPr>
              <a:t>• Basemap loads; attribution visible</a:t>
            </a:r>
          </a:p>
          <a:p>
            <a:pPr algn="l">
              <a:lnSpc>
                <a:spcPct val="95000"/>
              </a:lnSpc>
              <a:spcBef>
                <a:spcPts val="0"/>
              </a:spcBef>
              <a:spcAft>
                <a:spcPts val="350"/>
              </a:spcAft>
            </a:pPr>
            <a:r>
              <a:rPr sz="1230" b="0" i="0">
                <a:solidFill>
                  <a:srgbClr val="233235"/>
                </a:solidFill>
                <a:latin typeface="Arial"/>
              </a:rPr>
              <a:t>• Marker matches the selected record</a:t>
            </a:r>
          </a:p>
          <a:p>
            <a:pPr algn="l">
              <a:lnSpc>
                <a:spcPct val="95000"/>
              </a:lnSpc>
              <a:spcBef>
                <a:spcPts val="0"/>
              </a:spcBef>
              <a:spcAft>
                <a:spcPts val="350"/>
              </a:spcAft>
            </a:pPr>
            <a:r>
              <a:rPr sz="1230" b="0" i="0">
                <a:solidFill>
                  <a:srgbClr val="233235"/>
                </a:solidFill>
                <a:latin typeface="Arial"/>
              </a:rPr>
              <a:t>• Search and severity/status chips work</a:t>
            </a:r>
          </a:p>
          <a:p>
            <a:pPr algn="l">
              <a:lnSpc>
                <a:spcPct val="95000"/>
              </a:lnSpc>
              <a:spcBef>
                <a:spcPts val="0"/>
              </a:spcBef>
              <a:spcAft>
                <a:spcPts val="350"/>
              </a:spcAft>
            </a:pPr>
            <a:r>
              <a:rPr sz="1230" b="0" i="0">
                <a:solidFill>
                  <a:srgbClr val="233235"/>
                </a:solidFill>
                <a:latin typeface="Arial"/>
              </a:rPr>
              <a:t>• Sort order changes as requested</a:t>
            </a:r>
          </a:p>
        </p:txBody>
      </p:sp>
      <p:sp>
        <p:nvSpPr>
          <p:cNvPr id="233" name="TextBox 232"/>
          <p:cNvSpPr txBox="1"/>
          <p:nvPr/>
        </p:nvSpPr>
        <p:spPr>
          <a:xfrm>
            <a:off x="25146000" y="7863840"/>
            <a:ext cx="4425696" cy="1554480"/>
          </a:xfrm>
          <a:prstGeom prst="rect">
            <a:avLst/>
          </a:prstGeom>
          <a:noFill/>
        </p:spPr>
        <p:txBody>
          <a:bodyPr wrap="square" lIns="0" rIns="0" tIns="0" bIns="0" anchor="t">
            <a:spAutoFit/>
          </a:bodyPr>
          <a:lstStyle/>
          <a:p>
            <a:pPr algn="l">
              <a:lnSpc>
                <a:spcPct val="95000"/>
              </a:lnSpc>
              <a:spcBef>
                <a:spcPts val="0"/>
              </a:spcBef>
              <a:spcAft>
                <a:spcPts val="350"/>
              </a:spcAft>
            </a:pPr>
            <a:r>
              <a:rPr sz="1230" b="0" i="0">
                <a:solidFill>
                  <a:srgbClr val="233235"/>
                </a:solidFill>
                <a:latin typeface="Arial"/>
              </a:rPr>
              <a:t>• 24h / 7d / 30d boundaries correct</a:t>
            </a:r>
          </a:p>
          <a:p>
            <a:pPr algn="l">
              <a:lnSpc>
                <a:spcPct val="95000"/>
              </a:lnSpc>
              <a:spcBef>
                <a:spcPts val="0"/>
              </a:spcBef>
              <a:spcAft>
                <a:spcPts val="350"/>
              </a:spcAft>
            </a:pPr>
            <a:r>
              <a:rPr sz="1230" b="0" i="0">
                <a:solidFill>
                  <a:srgbClr val="233235"/>
                </a:solidFill>
                <a:latin typeface="Arial"/>
              </a:rPr>
              <a:t>• Popup opens the matching detail drawer</a:t>
            </a:r>
          </a:p>
          <a:p>
            <a:pPr algn="l">
              <a:lnSpc>
                <a:spcPct val="95000"/>
              </a:lnSpc>
              <a:spcBef>
                <a:spcPts val="0"/>
              </a:spcBef>
              <a:spcAft>
                <a:spcPts val="350"/>
              </a:spcAft>
            </a:pPr>
            <a:r>
              <a:rPr sz="1230" b="0" i="0">
                <a:solidFill>
                  <a:srgbClr val="233235"/>
                </a:solidFill>
                <a:latin typeface="Arial"/>
              </a:rPr>
              <a:t>• Status actions refresh shared views</a:t>
            </a:r>
          </a:p>
          <a:p>
            <a:pPr algn="l">
              <a:lnSpc>
                <a:spcPct val="95000"/>
              </a:lnSpc>
              <a:spcBef>
                <a:spcPts val="0"/>
              </a:spcBef>
              <a:spcAft>
                <a:spcPts val="350"/>
              </a:spcAft>
            </a:pPr>
            <a:r>
              <a:rPr sz="1230" b="0" i="0">
                <a:solidFill>
                  <a:srgbClr val="233235"/>
                </a:solidFill>
                <a:latin typeface="Arial"/>
              </a:rPr>
              <a:t>• Layout resizes on small screens</a:t>
            </a:r>
          </a:p>
        </p:txBody>
      </p:sp>
      <p:sp>
        <p:nvSpPr>
          <p:cNvPr id="234" name="Rounded Rectangle 233"/>
          <p:cNvSpPr/>
          <p:nvPr/>
        </p:nvSpPr>
        <p:spPr>
          <a:xfrm>
            <a:off x="20500848" y="9582912"/>
            <a:ext cx="9070848" cy="603504"/>
          </a:xfrm>
          <a:prstGeom prst="roundRect">
            <a:avLst>
              <a:gd name="adj" fmla="val 8000"/>
            </a:avLst>
          </a:prstGeom>
          <a:solidFill>
            <a:srgbClr val="DCEBE9"/>
          </a:solidFill>
          <a:ln w="11430">
            <a:solidFill>
              <a:srgbClr val="DCEB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0610576" y="9656063"/>
            <a:ext cx="8851392" cy="466344"/>
          </a:xfrm>
          <a:prstGeom prst="rect">
            <a:avLst/>
          </a:prstGeom>
          <a:noFill/>
        </p:spPr>
        <p:txBody>
          <a:bodyPr wrap="square" lIns="0" rIns="0" tIns="0" bIns="0" anchor="ctr">
            <a:spAutoFit/>
          </a:bodyPr>
          <a:lstStyle/>
          <a:p>
            <a:pPr algn="l">
              <a:lnSpc>
                <a:spcPct val="95000"/>
              </a:lnSpc>
              <a:spcBef>
                <a:spcPts val="0"/>
              </a:spcBef>
              <a:spcAft>
                <a:spcPts val="350"/>
              </a:spcAft>
            </a:pPr>
            <a:r>
              <a:rPr sz="1190" b="0" i="0">
                <a:solidFill>
                  <a:srgbClr val="233235"/>
                </a:solidFill>
                <a:latin typeface="Arial"/>
              </a:rPr>
              <a:t>Evidence to retain: test ID, expected / actual result, pass or fail, browser version and dated screenshot. Server persistence and cross-user concurrency need separate tests.</a:t>
            </a:r>
          </a:p>
        </p:txBody>
      </p:sp>
      <p:sp>
        <p:nvSpPr>
          <p:cNvPr id="236" name="Rounded Rectangle 235"/>
          <p:cNvSpPr/>
          <p:nvPr/>
        </p:nvSpPr>
        <p:spPr>
          <a:xfrm>
            <a:off x="20226528" y="10616184"/>
            <a:ext cx="9592056" cy="3703320"/>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0226528" y="10616184"/>
            <a:ext cx="91440" cy="3703320"/>
          </a:xfrm>
          <a:prstGeom prst="rect">
            <a:avLst/>
          </a:prstGeom>
          <a:solidFill>
            <a:srgbClr val="718F78"/>
          </a:solidFill>
          <a:ln w="11430">
            <a:solidFill>
              <a:srgbClr val="71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20482560" y="10744200"/>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718F78"/>
                </a:solidFill>
                <a:latin typeface="Arial"/>
              </a:rPr>
              <a:t>SMART-CITY VALUE &amp; LIMITATIONS</a:t>
            </a:r>
          </a:p>
        </p:txBody>
      </p:sp>
      <p:sp>
        <p:nvSpPr>
          <p:cNvPr id="239" name="TextBox 238"/>
          <p:cNvSpPr txBox="1"/>
          <p:nvPr/>
        </p:nvSpPr>
        <p:spPr>
          <a:xfrm>
            <a:off x="20500848" y="11228832"/>
            <a:ext cx="9070848" cy="758952"/>
          </a:xfrm>
          <a:prstGeom prst="rect">
            <a:avLst/>
          </a:prstGeom>
          <a:noFill/>
        </p:spPr>
        <p:txBody>
          <a:bodyPr wrap="square" lIns="0" rIns="0" tIns="0" bIns="0" anchor="t">
            <a:spAutoFit/>
          </a:bodyPr>
          <a:lstStyle/>
          <a:p>
            <a:pPr algn="l">
              <a:lnSpc>
                <a:spcPct val="95000"/>
              </a:lnSpc>
              <a:spcBef>
                <a:spcPts val="0"/>
              </a:spcBef>
              <a:spcAft>
                <a:spcPts val="350"/>
              </a:spcAft>
            </a:pPr>
            <a:r>
              <a:rPr sz="1300" b="0" i="0">
                <a:solidFill>
                  <a:srgbClr val="233235"/>
                </a:solidFill>
                <a:latin typeface="Arial"/>
              </a:rPr>
              <a:t>PRIMARY USERS</a:t>
            </a:r>
          </a:p>
          <a:p>
            <a:pPr algn="l">
              <a:lnSpc>
                <a:spcPct val="95000"/>
              </a:lnSpc>
              <a:spcBef>
                <a:spcPts val="0"/>
              </a:spcBef>
              <a:spcAft>
                <a:spcPts val="350"/>
              </a:spcAft>
            </a:pPr>
            <a:r>
              <a:rPr sz="1300" b="0" i="0">
                <a:solidFill>
                  <a:srgbClr val="233235"/>
                </a:solidFill>
                <a:latin typeface="Arial"/>
              </a:rPr>
              <a:t>Municipal road engineers • maintenance coordinators • infrastructure analysts • repair crews</a:t>
            </a:r>
          </a:p>
        </p:txBody>
      </p:sp>
      <p:sp>
        <p:nvSpPr>
          <p:cNvPr id="240" name="TextBox 239"/>
          <p:cNvSpPr txBox="1"/>
          <p:nvPr/>
        </p:nvSpPr>
        <p:spPr>
          <a:xfrm>
            <a:off x="20500848" y="12070080"/>
            <a:ext cx="9070848" cy="1097280"/>
          </a:xfrm>
          <a:prstGeom prst="rect">
            <a:avLst/>
          </a:prstGeom>
          <a:noFill/>
        </p:spPr>
        <p:txBody>
          <a:bodyPr wrap="square" lIns="0" rIns="0" tIns="0" bIns="0" anchor="t">
            <a:spAutoFit/>
          </a:bodyPr>
          <a:lstStyle/>
          <a:p>
            <a:pPr algn="l">
              <a:lnSpc>
                <a:spcPct val="95000"/>
              </a:lnSpc>
              <a:spcBef>
                <a:spcPts val="0"/>
              </a:spcBef>
              <a:spcAft>
                <a:spcPts val="350"/>
              </a:spcAft>
            </a:pPr>
            <a:r>
              <a:rPr sz="1280" b="0" i="0">
                <a:solidFill>
                  <a:srgbClr val="233235"/>
                </a:solidFill>
                <a:latin typeface="Arial"/>
              </a:rPr>
              <a:t>OPERATIONAL VALUE</a:t>
            </a:r>
          </a:p>
          <a:p>
            <a:pPr algn="l">
              <a:lnSpc>
                <a:spcPct val="95000"/>
              </a:lnSpc>
              <a:spcBef>
                <a:spcPts val="0"/>
              </a:spcBef>
              <a:spcAft>
                <a:spcPts val="350"/>
              </a:spcAft>
            </a:pPr>
            <a:r>
              <a:rPr sz="1280" b="0" i="0">
                <a:solidFill>
                  <a:srgbClr val="233235"/>
                </a:solidFill>
                <a:latin typeface="Arial"/>
              </a:rPr>
              <a:t>• Shared spatial + record context</a:t>
            </a:r>
          </a:p>
          <a:p>
            <a:pPr algn="l">
              <a:lnSpc>
                <a:spcPct val="95000"/>
              </a:lnSpc>
              <a:spcBef>
                <a:spcPts val="0"/>
              </a:spcBef>
              <a:spcAft>
                <a:spcPts val="350"/>
              </a:spcAft>
            </a:pPr>
            <a:r>
              <a:rPr sz="1280" b="0" i="0">
                <a:solidFill>
                  <a:srgbClr val="233235"/>
                </a:solidFill>
                <a:latin typeface="Arial"/>
              </a:rPr>
              <a:t>• Visible severity and open-work backlog</a:t>
            </a:r>
          </a:p>
          <a:p>
            <a:pPr algn="l">
              <a:lnSpc>
                <a:spcPct val="95000"/>
              </a:lnSpc>
              <a:spcBef>
                <a:spcPts val="0"/>
              </a:spcBef>
              <a:spcAft>
                <a:spcPts val="350"/>
              </a:spcAft>
            </a:pPr>
            <a:r>
              <a:rPr sz="1280" b="0" i="0">
                <a:solidFill>
                  <a:srgbClr val="233235"/>
                </a:solidFill>
                <a:latin typeface="Arial"/>
              </a:rPr>
              <a:t>• Consistent triage and status review</a:t>
            </a:r>
          </a:p>
          <a:p>
            <a:pPr algn="l">
              <a:lnSpc>
                <a:spcPct val="95000"/>
              </a:lnSpc>
              <a:spcBef>
                <a:spcPts val="0"/>
              </a:spcBef>
              <a:spcAft>
                <a:spcPts val="350"/>
              </a:spcAft>
            </a:pPr>
            <a:r>
              <a:rPr sz="1280" b="0" i="0">
                <a:solidFill>
                  <a:srgbClr val="233235"/>
                </a:solidFill>
                <a:latin typeface="Arial"/>
              </a:rPr>
              <a:t>• Foundation for segment-level hotspot analysis</a:t>
            </a:r>
          </a:p>
        </p:txBody>
      </p:sp>
      <p:sp>
        <p:nvSpPr>
          <p:cNvPr id="241" name="Rounded Rectangle 240"/>
          <p:cNvSpPr/>
          <p:nvPr/>
        </p:nvSpPr>
        <p:spPr>
          <a:xfrm>
            <a:off x="20500848" y="13295376"/>
            <a:ext cx="9070848" cy="749808"/>
          </a:xfrm>
          <a:prstGeom prst="roundRect">
            <a:avLst>
              <a:gd name="adj" fmla="val 8000"/>
            </a:avLst>
          </a:prstGeom>
          <a:solidFill>
            <a:srgbClr val="E4ECE2"/>
          </a:solidFill>
          <a:ln w="11430">
            <a:solidFill>
              <a:srgbClr val="E4E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TextBox 241"/>
          <p:cNvSpPr txBox="1"/>
          <p:nvPr/>
        </p:nvSpPr>
        <p:spPr>
          <a:xfrm>
            <a:off x="20619720" y="13359384"/>
            <a:ext cx="8833104" cy="612648"/>
          </a:xfrm>
          <a:prstGeom prst="rect">
            <a:avLst/>
          </a:prstGeom>
          <a:noFill/>
        </p:spPr>
        <p:txBody>
          <a:bodyPr wrap="square" lIns="0" rIns="0" tIns="0" bIns="0" anchor="t">
            <a:spAutoFit/>
          </a:bodyPr>
          <a:lstStyle/>
          <a:p>
            <a:pPr algn="l">
              <a:lnSpc>
                <a:spcPct val="95000"/>
              </a:lnSpc>
              <a:spcBef>
                <a:spcPts val="0"/>
              </a:spcBef>
              <a:spcAft>
                <a:spcPts val="350"/>
              </a:spcAft>
            </a:pPr>
            <a:r>
              <a:rPr sz="1210" b="0" i="0">
                <a:solidFill>
                  <a:srgbClr val="233235"/>
                </a:solidFill>
                <a:latin typeface="Arial"/>
              </a:rPr>
              <a:t>SDG 11 ALIGNMENT: supports safer, more sustainable urban transport and integrated city planning. Outcomes require reliable data and maintenance follow-through.</a:t>
            </a:r>
          </a:p>
        </p:txBody>
      </p:sp>
      <p:sp>
        <p:nvSpPr>
          <p:cNvPr id="243" name="TextBox 242"/>
          <p:cNvSpPr txBox="1"/>
          <p:nvPr/>
        </p:nvSpPr>
        <p:spPr>
          <a:xfrm>
            <a:off x="20500848" y="14136624"/>
            <a:ext cx="9070848" cy="320040"/>
          </a:xfrm>
          <a:prstGeom prst="rect">
            <a:avLst/>
          </a:prstGeom>
          <a:noFill/>
        </p:spPr>
        <p:txBody>
          <a:bodyPr wrap="square" lIns="0" rIns="0" tIns="0" bIns="0" anchor="t">
            <a:spAutoFit/>
          </a:bodyPr>
          <a:lstStyle/>
          <a:p>
            <a:pPr algn="l">
              <a:lnSpc>
                <a:spcPct val="100000"/>
              </a:lnSpc>
              <a:spcBef>
                <a:spcPts val="0"/>
              </a:spcBef>
              <a:spcAft>
                <a:spcPts val="350"/>
              </a:spcAft>
            </a:pPr>
            <a:r>
              <a:rPr sz="1180" b="1" i="0">
                <a:solidFill>
                  <a:srgbClr val="C35D40"/>
                </a:solidFill>
                <a:latin typeface="Arial"/>
              </a:rPr>
              <a:t>LIMITATIONS: GPS quality, false alarms, image conditions, local domain shift and operator adoption can change results.</a:t>
            </a:r>
          </a:p>
        </p:txBody>
      </p:sp>
      <p:sp>
        <p:nvSpPr>
          <p:cNvPr id="244" name="Rounded Rectangle 243"/>
          <p:cNvSpPr/>
          <p:nvPr/>
        </p:nvSpPr>
        <p:spPr>
          <a:xfrm>
            <a:off x="20226528" y="14484096"/>
            <a:ext cx="9592056" cy="5358384"/>
          </a:xfrm>
          <a:prstGeom prst="roundRect">
            <a:avLst>
              <a:gd name="adj" fmla="val 8000"/>
            </a:avLst>
          </a:prstGeom>
          <a:solidFill>
            <a:srgbClr val="FFFFFF"/>
          </a:solidFill>
          <a:ln w="11430">
            <a:solidFill>
              <a:srgbClr val="D9E0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20226528" y="14484096"/>
            <a:ext cx="91440" cy="5358384"/>
          </a:xfrm>
          <a:prstGeom prst="rect">
            <a:avLst/>
          </a:prstGeom>
          <a:solidFill>
            <a:srgbClr val="D1A23E"/>
          </a:solidFill>
          <a:ln w="1143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TextBox 245"/>
          <p:cNvSpPr txBox="1"/>
          <p:nvPr/>
        </p:nvSpPr>
        <p:spPr>
          <a:xfrm>
            <a:off x="20482560" y="14612112"/>
            <a:ext cx="9089136" cy="384048"/>
          </a:xfrm>
          <a:prstGeom prst="rect">
            <a:avLst/>
          </a:prstGeom>
          <a:noFill/>
        </p:spPr>
        <p:txBody>
          <a:bodyPr wrap="square" lIns="0" rIns="0" tIns="0" bIns="0" anchor="ctr">
            <a:spAutoFit/>
          </a:bodyPr>
          <a:lstStyle/>
          <a:p>
            <a:pPr algn="l">
              <a:lnSpc>
                <a:spcPct val="100000"/>
              </a:lnSpc>
              <a:spcBef>
                <a:spcPts val="0"/>
              </a:spcBef>
              <a:spcAft>
                <a:spcPts val="350"/>
              </a:spcAft>
            </a:pPr>
            <a:r>
              <a:rPr sz="1750" b="1" i="0">
                <a:solidFill>
                  <a:srgbClr val="D1A23E"/>
                </a:solidFill>
                <a:latin typeface="Arial"/>
              </a:rPr>
              <a:t>ROADMAP TO FIELD VALIDATION</a:t>
            </a:r>
          </a:p>
        </p:txBody>
      </p:sp>
      <p:sp>
        <p:nvSpPr>
          <p:cNvPr id="247" name="Oval 246"/>
          <p:cNvSpPr/>
          <p:nvPr/>
        </p:nvSpPr>
        <p:spPr>
          <a:xfrm>
            <a:off x="20500848" y="15115032"/>
            <a:ext cx="347472" cy="347472"/>
          </a:xfrm>
          <a:prstGeom prst="ellipse">
            <a:avLst/>
          </a:prstGeom>
          <a:solidFill>
            <a:srgbClr val="2F7375"/>
          </a:solidFill>
          <a:ln w="10160">
            <a:solidFill>
              <a:srgbClr val="2F73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20500848" y="15128748"/>
            <a:ext cx="347472" cy="274320"/>
          </a:xfrm>
          <a:prstGeom prst="rect">
            <a:avLst/>
          </a:prstGeom>
          <a:noFill/>
        </p:spPr>
        <p:txBody>
          <a:bodyPr wrap="square" lIns="0" rIns="0" tIns="0" bIns="0" anchor="ctr">
            <a:spAutoFit/>
          </a:bodyPr>
          <a:lstStyle/>
          <a:p>
            <a:pPr algn="ctr">
              <a:lnSpc>
                <a:spcPct val="100000"/>
              </a:lnSpc>
              <a:spcBef>
                <a:spcPts val="0"/>
              </a:spcBef>
              <a:spcAft>
                <a:spcPts val="350"/>
              </a:spcAft>
            </a:pPr>
            <a:r>
              <a:rPr sz="950" b="1" i="0">
                <a:solidFill>
                  <a:srgbClr val="FFFFFF"/>
                </a:solidFill>
                <a:latin typeface="Arial"/>
              </a:rPr>
              <a:t>01</a:t>
            </a:r>
          </a:p>
        </p:txBody>
      </p:sp>
      <p:sp>
        <p:nvSpPr>
          <p:cNvPr id="249" name="TextBox 248"/>
          <p:cNvSpPr txBox="1"/>
          <p:nvPr/>
        </p:nvSpPr>
        <p:spPr>
          <a:xfrm>
            <a:off x="21003768" y="15096744"/>
            <a:ext cx="1325880" cy="256032"/>
          </a:xfrm>
          <a:prstGeom prst="rect">
            <a:avLst/>
          </a:prstGeom>
          <a:noFill/>
        </p:spPr>
        <p:txBody>
          <a:bodyPr wrap="square" lIns="0" rIns="0" tIns="0" bIns="0" anchor="ctr">
            <a:spAutoFit/>
          </a:bodyPr>
          <a:lstStyle/>
          <a:p>
            <a:pPr algn="l">
              <a:lnSpc>
                <a:spcPct val="100000"/>
              </a:lnSpc>
              <a:spcBef>
                <a:spcPts val="0"/>
              </a:spcBef>
              <a:spcAft>
                <a:spcPts val="350"/>
              </a:spcAft>
            </a:pPr>
            <a:r>
              <a:rPr sz="1160" b="1" i="0">
                <a:solidFill>
                  <a:srgbClr val="2F7375"/>
                </a:solidFill>
                <a:latin typeface="Arial"/>
              </a:rPr>
              <a:t>CONNECT</a:t>
            </a:r>
          </a:p>
        </p:txBody>
      </p:sp>
      <p:sp>
        <p:nvSpPr>
          <p:cNvPr id="250" name="TextBox 249"/>
          <p:cNvSpPr txBox="1"/>
          <p:nvPr/>
        </p:nvSpPr>
        <p:spPr>
          <a:xfrm>
            <a:off x="22357080" y="15096744"/>
            <a:ext cx="7150608" cy="429768"/>
          </a:xfrm>
          <a:prstGeom prst="rect">
            <a:avLst/>
          </a:prstGeom>
          <a:noFill/>
        </p:spPr>
        <p:txBody>
          <a:bodyPr wrap="square" lIns="0" rIns="0" tIns="0" bIns="0" anchor="ctr">
            <a:spAutoFit/>
          </a:bodyPr>
          <a:lstStyle/>
          <a:p>
            <a:pPr algn="l">
              <a:lnSpc>
                <a:spcPct val="95000"/>
              </a:lnSpc>
              <a:spcBef>
                <a:spcPts val="0"/>
              </a:spcBef>
              <a:spcAft>
                <a:spcPts val="350"/>
              </a:spcAft>
            </a:pPr>
            <a:r>
              <a:rPr sz="1200" b="0" i="0">
                <a:solidFill>
                  <a:srgbClr val="233235"/>
                </a:solidFill>
                <a:latin typeface="Arial"/>
              </a:rPr>
              <a:t>Validated GPS schema + API ingestion</a:t>
            </a:r>
          </a:p>
        </p:txBody>
      </p:sp>
      <p:sp>
        <p:nvSpPr>
          <p:cNvPr id="251" name="Oval 250"/>
          <p:cNvSpPr/>
          <p:nvPr/>
        </p:nvSpPr>
        <p:spPr>
          <a:xfrm>
            <a:off x="20500848" y="15755112"/>
            <a:ext cx="347472" cy="347472"/>
          </a:xfrm>
          <a:prstGeom prst="ellipse">
            <a:avLst/>
          </a:prstGeom>
          <a:solidFill>
            <a:srgbClr val="718F78"/>
          </a:solidFill>
          <a:ln w="10160">
            <a:solidFill>
              <a:srgbClr val="718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20500848" y="15768828"/>
            <a:ext cx="347472" cy="274320"/>
          </a:xfrm>
          <a:prstGeom prst="rect">
            <a:avLst/>
          </a:prstGeom>
          <a:noFill/>
        </p:spPr>
        <p:txBody>
          <a:bodyPr wrap="square" lIns="0" rIns="0" tIns="0" bIns="0" anchor="ctr">
            <a:spAutoFit/>
          </a:bodyPr>
          <a:lstStyle/>
          <a:p>
            <a:pPr algn="ctr">
              <a:lnSpc>
                <a:spcPct val="100000"/>
              </a:lnSpc>
              <a:spcBef>
                <a:spcPts val="0"/>
              </a:spcBef>
              <a:spcAft>
                <a:spcPts val="350"/>
              </a:spcAft>
            </a:pPr>
            <a:r>
              <a:rPr sz="950" b="1" i="0">
                <a:solidFill>
                  <a:srgbClr val="FFFFFF"/>
                </a:solidFill>
                <a:latin typeface="Arial"/>
              </a:rPr>
              <a:t>02</a:t>
            </a:r>
          </a:p>
        </p:txBody>
      </p:sp>
      <p:sp>
        <p:nvSpPr>
          <p:cNvPr id="253" name="TextBox 252"/>
          <p:cNvSpPr txBox="1"/>
          <p:nvPr/>
        </p:nvSpPr>
        <p:spPr>
          <a:xfrm>
            <a:off x="21003768" y="15736824"/>
            <a:ext cx="1325880" cy="256032"/>
          </a:xfrm>
          <a:prstGeom prst="rect">
            <a:avLst/>
          </a:prstGeom>
          <a:noFill/>
        </p:spPr>
        <p:txBody>
          <a:bodyPr wrap="square" lIns="0" rIns="0" tIns="0" bIns="0" anchor="ctr">
            <a:spAutoFit/>
          </a:bodyPr>
          <a:lstStyle/>
          <a:p>
            <a:pPr algn="l">
              <a:lnSpc>
                <a:spcPct val="100000"/>
              </a:lnSpc>
              <a:spcBef>
                <a:spcPts val="0"/>
              </a:spcBef>
              <a:spcAft>
                <a:spcPts val="350"/>
              </a:spcAft>
            </a:pPr>
            <a:r>
              <a:rPr sz="1160" b="1" i="0">
                <a:solidFill>
                  <a:srgbClr val="718F78"/>
                </a:solidFill>
                <a:latin typeface="Arial"/>
              </a:rPr>
              <a:t>PERSIST</a:t>
            </a:r>
          </a:p>
        </p:txBody>
      </p:sp>
      <p:sp>
        <p:nvSpPr>
          <p:cNvPr id="254" name="TextBox 253"/>
          <p:cNvSpPr txBox="1"/>
          <p:nvPr/>
        </p:nvSpPr>
        <p:spPr>
          <a:xfrm>
            <a:off x="22357080" y="15736824"/>
            <a:ext cx="7150608" cy="429768"/>
          </a:xfrm>
          <a:prstGeom prst="rect">
            <a:avLst/>
          </a:prstGeom>
          <a:noFill/>
        </p:spPr>
        <p:txBody>
          <a:bodyPr wrap="square" lIns="0" rIns="0" tIns="0" bIns="0" anchor="ctr">
            <a:spAutoFit/>
          </a:bodyPr>
          <a:lstStyle/>
          <a:p>
            <a:pPr algn="l">
              <a:lnSpc>
                <a:spcPct val="95000"/>
              </a:lnSpc>
              <a:spcBef>
                <a:spcPts val="0"/>
              </a:spcBef>
              <a:spcAft>
                <a:spcPts val="350"/>
              </a:spcAft>
            </a:pPr>
            <a:r>
              <a:rPr sz="1200" b="0" i="0">
                <a:solidFill>
                  <a:srgbClr val="233235"/>
                </a:solidFill>
                <a:latin typeface="Arial"/>
              </a:rPr>
              <a:t>Database, user roles, audit trail, backups</a:t>
            </a:r>
          </a:p>
        </p:txBody>
      </p:sp>
      <p:sp>
        <p:nvSpPr>
          <p:cNvPr id="255" name="Oval 254"/>
          <p:cNvSpPr/>
          <p:nvPr/>
        </p:nvSpPr>
        <p:spPr>
          <a:xfrm>
            <a:off x="20500848" y="16395192"/>
            <a:ext cx="347472" cy="347472"/>
          </a:xfrm>
          <a:prstGeom prst="ellipse">
            <a:avLst/>
          </a:prstGeom>
          <a:solidFill>
            <a:srgbClr val="D1A23E"/>
          </a:solidFill>
          <a:ln w="10160">
            <a:solidFill>
              <a:srgbClr val="D1A2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20500848" y="16408908"/>
            <a:ext cx="347472" cy="274320"/>
          </a:xfrm>
          <a:prstGeom prst="rect">
            <a:avLst/>
          </a:prstGeom>
          <a:noFill/>
        </p:spPr>
        <p:txBody>
          <a:bodyPr wrap="square" lIns="0" rIns="0" tIns="0" bIns="0" anchor="ctr">
            <a:spAutoFit/>
          </a:bodyPr>
          <a:lstStyle/>
          <a:p>
            <a:pPr algn="ctr">
              <a:lnSpc>
                <a:spcPct val="100000"/>
              </a:lnSpc>
              <a:spcBef>
                <a:spcPts val="0"/>
              </a:spcBef>
              <a:spcAft>
                <a:spcPts val="350"/>
              </a:spcAft>
            </a:pPr>
            <a:r>
              <a:rPr sz="950" b="1" i="0">
                <a:solidFill>
                  <a:srgbClr val="FFFFFF"/>
                </a:solidFill>
                <a:latin typeface="Arial"/>
              </a:rPr>
              <a:t>03</a:t>
            </a:r>
          </a:p>
        </p:txBody>
      </p:sp>
      <p:sp>
        <p:nvSpPr>
          <p:cNvPr id="257" name="TextBox 256"/>
          <p:cNvSpPr txBox="1"/>
          <p:nvPr/>
        </p:nvSpPr>
        <p:spPr>
          <a:xfrm>
            <a:off x="21003768" y="16376904"/>
            <a:ext cx="1325880" cy="256032"/>
          </a:xfrm>
          <a:prstGeom prst="rect">
            <a:avLst/>
          </a:prstGeom>
          <a:noFill/>
        </p:spPr>
        <p:txBody>
          <a:bodyPr wrap="square" lIns="0" rIns="0" tIns="0" bIns="0" anchor="ctr">
            <a:spAutoFit/>
          </a:bodyPr>
          <a:lstStyle/>
          <a:p>
            <a:pPr algn="l">
              <a:lnSpc>
                <a:spcPct val="100000"/>
              </a:lnSpc>
              <a:spcBef>
                <a:spcPts val="0"/>
              </a:spcBef>
              <a:spcAft>
                <a:spcPts val="350"/>
              </a:spcAft>
            </a:pPr>
            <a:r>
              <a:rPr sz="1160" b="1" i="0">
                <a:solidFill>
                  <a:srgbClr val="D1A23E"/>
                </a:solidFill>
                <a:latin typeface="Arial"/>
              </a:rPr>
              <a:t>BENCHMARK</a:t>
            </a:r>
          </a:p>
        </p:txBody>
      </p:sp>
      <p:sp>
        <p:nvSpPr>
          <p:cNvPr id="258" name="TextBox 257"/>
          <p:cNvSpPr txBox="1"/>
          <p:nvPr/>
        </p:nvSpPr>
        <p:spPr>
          <a:xfrm>
            <a:off x="22357080" y="16376904"/>
            <a:ext cx="7150608" cy="429768"/>
          </a:xfrm>
          <a:prstGeom prst="rect">
            <a:avLst/>
          </a:prstGeom>
          <a:noFill/>
        </p:spPr>
        <p:txBody>
          <a:bodyPr wrap="square" lIns="0" rIns="0" tIns="0" bIns="0" anchor="ctr">
            <a:spAutoFit/>
          </a:bodyPr>
          <a:lstStyle/>
          <a:p>
            <a:pPr algn="l">
              <a:lnSpc>
                <a:spcPct val="95000"/>
              </a:lnSpc>
              <a:spcBef>
                <a:spcPts val="0"/>
              </a:spcBef>
              <a:spcAft>
                <a:spcPts val="350"/>
              </a:spcAft>
            </a:pPr>
            <a:r>
              <a:rPr sz="1200" b="0" i="0">
                <a:solidFill>
                  <a:srgbClr val="233235"/>
                </a:solidFill>
                <a:latin typeface="Arial"/>
              </a:rPr>
              <a:t>Train / compare detector; test on local images</a:t>
            </a:r>
          </a:p>
        </p:txBody>
      </p:sp>
      <p:sp>
        <p:nvSpPr>
          <p:cNvPr id="259" name="Oval 258"/>
          <p:cNvSpPr/>
          <p:nvPr/>
        </p:nvSpPr>
        <p:spPr>
          <a:xfrm>
            <a:off x="20500848" y="17035272"/>
            <a:ext cx="347472" cy="347472"/>
          </a:xfrm>
          <a:prstGeom prst="ellipse">
            <a:avLst/>
          </a:prstGeom>
          <a:solidFill>
            <a:srgbClr val="C35D40"/>
          </a:solidFill>
          <a:ln w="10160">
            <a:solidFill>
              <a:srgbClr val="C35D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20500848" y="17048988"/>
            <a:ext cx="347472" cy="274320"/>
          </a:xfrm>
          <a:prstGeom prst="rect">
            <a:avLst/>
          </a:prstGeom>
          <a:noFill/>
        </p:spPr>
        <p:txBody>
          <a:bodyPr wrap="square" lIns="0" rIns="0" tIns="0" bIns="0" anchor="ctr">
            <a:spAutoFit/>
          </a:bodyPr>
          <a:lstStyle/>
          <a:p>
            <a:pPr algn="ctr">
              <a:lnSpc>
                <a:spcPct val="100000"/>
              </a:lnSpc>
              <a:spcBef>
                <a:spcPts val="0"/>
              </a:spcBef>
              <a:spcAft>
                <a:spcPts val="350"/>
              </a:spcAft>
            </a:pPr>
            <a:r>
              <a:rPr sz="950" b="1" i="0">
                <a:solidFill>
                  <a:srgbClr val="FFFFFF"/>
                </a:solidFill>
                <a:latin typeface="Arial"/>
              </a:rPr>
              <a:t>04</a:t>
            </a:r>
          </a:p>
        </p:txBody>
      </p:sp>
      <p:sp>
        <p:nvSpPr>
          <p:cNvPr id="261" name="TextBox 260"/>
          <p:cNvSpPr txBox="1"/>
          <p:nvPr/>
        </p:nvSpPr>
        <p:spPr>
          <a:xfrm>
            <a:off x="21003768" y="17016984"/>
            <a:ext cx="1325880" cy="256032"/>
          </a:xfrm>
          <a:prstGeom prst="rect">
            <a:avLst/>
          </a:prstGeom>
          <a:noFill/>
        </p:spPr>
        <p:txBody>
          <a:bodyPr wrap="square" lIns="0" rIns="0" tIns="0" bIns="0" anchor="ctr">
            <a:spAutoFit/>
          </a:bodyPr>
          <a:lstStyle/>
          <a:p>
            <a:pPr algn="l">
              <a:lnSpc>
                <a:spcPct val="100000"/>
              </a:lnSpc>
              <a:spcBef>
                <a:spcPts val="0"/>
              </a:spcBef>
              <a:spcAft>
                <a:spcPts val="350"/>
              </a:spcAft>
            </a:pPr>
            <a:r>
              <a:rPr sz="1160" b="1" i="0">
                <a:solidFill>
                  <a:srgbClr val="C35D40"/>
                </a:solidFill>
                <a:latin typeface="Arial"/>
              </a:rPr>
              <a:t>ANALYZE</a:t>
            </a:r>
          </a:p>
        </p:txBody>
      </p:sp>
      <p:sp>
        <p:nvSpPr>
          <p:cNvPr id="262" name="TextBox 261"/>
          <p:cNvSpPr txBox="1"/>
          <p:nvPr/>
        </p:nvSpPr>
        <p:spPr>
          <a:xfrm>
            <a:off x="22357080" y="17016984"/>
            <a:ext cx="7150608" cy="429768"/>
          </a:xfrm>
          <a:prstGeom prst="rect">
            <a:avLst/>
          </a:prstGeom>
          <a:noFill/>
        </p:spPr>
        <p:txBody>
          <a:bodyPr wrap="square" lIns="0" rIns="0" tIns="0" bIns="0" anchor="ctr">
            <a:spAutoFit/>
          </a:bodyPr>
          <a:lstStyle/>
          <a:p>
            <a:pPr algn="l">
              <a:lnSpc>
                <a:spcPct val="95000"/>
              </a:lnSpc>
              <a:spcBef>
                <a:spcPts val="0"/>
              </a:spcBef>
              <a:spcAft>
                <a:spcPts val="350"/>
              </a:spcAft>
            </a:pPr>
            <a:r>
              <a:rPr sz="1200" b="0" i="0">
                <a:solidFill>
                  <a:srgbClr val="233235"/>
                </a:solidFill>
                <a:latin typeface="Arial"/>
              </a:rPr>
              <a:t>Road snapping, spatiotemporal dedupe, hotspots</a:t>
            </a:r>
          </a:p>
        </p:txBody>
      </p:sp>
      <p:sp>
        <p:nvSpPr>
          <p:cNvPr id="263" name="Oval 262"/>
          <p:cNvSpPr/>
          <p:nvPr/>
        </p:nvSpPr>
        <p:spPr>
          <a:xfrm>
            <a:off x="20500848" y="17675352"/>
            <a:ext cx="347472" cy="347472"/>
          </a:xfrm>
          <a:prstGeom prst="ellipse">
            <a:avLst/>
          </a:prstGeom>
          <a:solidFill>
            <a:srgbClr val="456C91"/>
          </a:solidFill>
          <a:ln w="10160">
            <a:solidFill>
              <a:srgbClr val="456C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20500848" y="17689068"/>
            <a:ext cx="347472" cy="274320"/>
          </a:xfrm>
          <a:prstGeom prst="rect">
            <a:avLst/>
          </a:prstGeom>
          <a:noFill/>
        </p:spPr>
        <p:txBody>
          <a:bodyPr wrap="square" lIns="0" rIns="0" tIns="0" bIns="0" anchor="ctr">
            <a:spAutoFit/>
          </a:bodyPr>
          <a:lstStyle/>
          <a:p>
            <a:pPr algn="ctr">
              <a:lnSpc>
                <a:spcPct val="100000"/>
              </a:lnSpc>
              <a:spcBef>
                <a:spcPts val="0"/>
              </a:spcBef>
              <a:spcAft>
                <a:spcPts val="350"/>
              </a:spcAft>
            </a:pPr>
            <a:r>
              <a:rPr sz="950" b="1" i="0">
                <a:solidFill>
                  <a:srgbClr val="FFFFFF"/>
                </a:solidFill>
                <a:latin typeface="Arial"/>
              </a:rPr>
              <a:t>05</a:t>
            </a:r>
          </a:p>
        </p:txBody>
      </p:sp>
      <p:sp>
        <p:nvSpPr>
          <p:cNvPr id="265" name="TextBox 264"/>
          <p:cNvSpPr txBox="1"/>
          <p:nvPr/>
        </p:nvSpPr>
        <p:spPr>
          <a:xfrm>
            <a:off x="21003768" y="17657064"/>
            <a:ext cx="1325880" cy="256032"/>
          </a:xfrm>
          <a:prstGeom prst="rect">
            <a:avLst/>
          </a:prstGeom>
          <a:noFill/>
        </p:spPr>
        <p:txBody>
          <a:bodyPr wrap="square" lIns="0" rIns="0" tIns="0" bIns="0" anchor="ctr">
            <a:spAutoFit/>
          </a:bodyPr>
          <a:lstStyle/>
          <a:p>
            <a:pPr algn="l">
              <a:lnSpc>
                <a:spcPct val="100000"/>
              </a:lnSpc>
              <a:spcBef>
                <a:spcPts val="0"/>
              </a:spcBef>
              <a:spcAft>
                <a:spcPts val="350"/>
              </a:spcAft>
            </a:pPr>
            <a:r>
              <a:rPr sz="1160" b="1" i="0">
                <a:solidFill>
                  <a:srgbClr val="456C91"/>
                </a:solidFill>
                <a:latin typeface="Arial"/>
              </a:rPr>
              <a:t>PILOT</a:t>
            </a:r>
          </a:p>
        </p:txBody>
      </p:sp>
      <p:sp>
        <p:nvSpPr>
          <p:cNvPr id="266" name="TextBox 265"/>
          <p:cNvSpPr txBox="1"/>
          <p:nvPr/>
        </p:nvSpPr>
        <p:spPr>
          <a:xfrm>
            <a:off x="22357080" y="17657064"/>
            <a:ext cx="7150608" cy="429768"/>
          </a:xfrm>
          <a:prstGeom prst="rect">
            <a:avLst/>
          </a:prstGeom>
          <a:noFill/>
        </p:spPr>
        <p:txBody>
          <a:bodyPr wrap="square" lIns="0" rIns="0" tIns="0" bIns="0" anchor="ctr">
            <a:spAutoFit/>
          </a:bodyPr>
          <a:lstStyle/>
          <a:p>
            <a:pPr algn="l">
              <a:lnSpc>
                <a:spcPct val="95000"/>
              </a:lnSpc>
              <a:spcBef>
                <a:spcPts val="0"/>
              </a:spcBef>
              <a:spcAft>
                <a:spcPts val="350"/>
              </a:spcAft>
            </a:pPr>
            <a:r>
              <a:rPr sz="1200" b="0" i="0">
                <a:solidFill>
                  <a:srgbClr val="233235"/>
                </a:solidFill>
                <a:latin typeface="Arial"/>
              </a:rPr>
              <a:t>Bounded ward trial; measure maintenance outcomes</a:t>
            </a:r>
          </a:p>
        </p:txBody>
      </p:sp>
      <p:sp>
        <p:nvSpPr>
          <p:cNvPr id="267" name="Rounded Rectangle 266"/>
          <p:cNvSpPr/>
          <p:nvPr/>
        </p:nvSpPr>
        <p:spPr>
          <a:xfrm>
            <a:off x="20500848" y="18416016"/>
            <a:ext cx="9070848" cy="1078992"/>
          </a:xfrm>
          <a:prstGeom prst="roundRect">
            <a:avLst>
              <a:gd name="adj" fmla="val 8000"/>
            </a:avLst>
          </a:prstGeom>
          <a:solidFill>
            <a:srgbClr val="F5EACB"/>
          </a:solidFill>
          <a:ln w="11430">
            <a:solidFill>
              <a:srgbClr val="F5EA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TextBox 267"/>
          <p:cNvSpPr txBox="1"/>
          <p:nvPr/>
        </p:nvSpPr>
        <p:spPr>
          <a:xfrm>
            <a:off x="20628864" y="18507456"/>
            <a:ext cx="8814816" cy="201168"/>
          </a:xfrm>
          <a:prstGeom prst="rect">
            <a:avLst/>
          </a:prstGeom>
          <a:noFill/>
        </p:spPr>
        <p:txBody>
          <a:bodyPr wrap="square" lIns="0" rIns="0" tIns="0" bIns="0" anchor="t">
            <a:spAutoFit/>
          </a:bodyPr>
          <a:lstStyle/>
          <a:p>
            <a:pPr algn="l">
              <a:lnSpc>
                <a:spcPct val="100000"/>
              </a:lnSpc>
              <a:spcBef>
                <a:spcPts val="0"/>
              </a:spcBef>
              <a:spcAft>
                <a:spcPts val="350"/>
              </a:spcAft>
            </a:pPr>
            <a:r>
              <a:rPr sz="1100" b="1" i="0">
                <a:solidFill>
                  <a:srgbClr val="D1A23E"/>
                </a:solidFill>
                <a:latin typeface="Arial"/>
              </a:rPr>
              <a:t>SUCCESS MEASURES</a:t>
            </a:r>
          </a:p>
        </p:txBody>
      </p:sp>
      <p:sp>
        <p:nvSpPr>
          <p:cNvPr id="269" name="TextBox 268"/>
          <p:cNvSpPr txBox="1"/>
          <p:nvPr/>
        </p:nvSpPr>
        <p:spPr>
          <a:xfrm>
            <a:off x="20628864" y="18772632"/>
            <a:ext cx="8814816" cy="612648"/>
          </a:xfrm>
          <a:prstGeom prst="rect">
            <a:avLst/>
          </a:prstGeom>
          <a:noFill/>
        </p:spPr>
        <p:txBody>
          <a:bodyPr wrap="square" lIns="0" rIns="0" tIns="0" bIns="0" anchor="t">
            <a:spAutoFit/>
          </a:bodyPr>
          <a:lstStyle/>
          <a:p>
            <a:pPr algn="l">
              <a:lnSpc>
                <a:spcPct val="96000"/>
              </a:lnSpc>
              <a:spcBef>
                <a:spcPts val="0"/>
              </a:spcBef>
              <a:spcAft>
                <a:spcPts val="350"/>
              </a:spcAft>
            </a:pPr>
            <a:r>
              <a:rPr sz="1240" b="0" i="0">
                <a:solidFill>
                  <a:srgbClr val="233235"/>
                </a:solidFill>
                <a:latin typeface="Arial"/>
              </a:rPr>
              <a:t>Model: precision, recall, F1, mAP and latency. Operations: median GPS error, duplicate rate, time-to-triage, time-to-repair, reopened reports and reviewer agreement.</a:t>
            </a:r>
          </a:p>
        </p:txBody>
      </p:sp>
      <p:sp>
        <p:nvSpPr>
          <p:cNvPr id="270" name="Rounded Rectangle 269"/>
          <p:cNvSpPr/>
          <p:nvPr/>
        </p:nvSpPr>
        <p:spPr>
          <a:xfrm>
            <a:off x="457200" y="20025360"/>
            <a:ext cx="29361384" cy="1133856"/>
          </a:xfrm>
          <a:prstGeom prst="roundRect">
            <a:avLst>
              <a:gd name="adj" fmla="val 8000"/>
            </a:avLst>
          </a:prstGeom>
          <a:solidFill>
            <a:srgbClr val="E2E9E6"/>
          </a:solidFill>
          <a:ln w="11430">
            <a:solidFill>
              <a:srgbClr val="D1DC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676656" y="20116800"/>
            <a:ext cx="1828800" cy="201168"/>
          </a:xfrm>
          <a:prstGeom prst="rect">
            <a:avLst/>
          </a:prstGeom>
          <a:noFill/>
        </p:spPr>
        <p:txBody>
          <a:bodyPr wrap="square" lIns="0" rIns="0" tIns="0" bIns="0" anchor="t">
            <a:spAutoFit/>
          </a:bodyPr>
          <a:lstStyle/>
          <a:p>
            <a:pPr algn="l">
              <a:lnSpc>
                <a:spcPct val="100000"/>
              </a:lnSpc>
              <a:spcBef>
                <a:spcPts val="0"/>
              </a:spcBef>
              <a:spcAft>
                <a:spcPts val="350"/>
              </a:spcAft>
            </a:pPr>
            <a:r>
              <a:rPr sz="1050" b="1" i="0">
                <a:solidFill>
                  <a:srgbClr val="2F7375"/>
                </a:solidFill>
                <a:latin typeface="Arial"/>
              </a:rPr>
              <a:t>REFERENCES &amp; CREDITS</a:t>
            </a:r>
          </a:p>
        </p:txBody>
      </p:sp>
      <p:sp>
        <p:nvSpPr>
          <p:cNvPr id="272" name="TextBox 271"/>
          <p:cNvSpPr txBox="1"/>
          <p:nvPr/>
        </p:nvSpPr>
        <p:spPr>
          <a:xfrm>
            <a:off x="2514600" y="20098511"/>
            <a:ext cx="12710160" cy="274320"/>
          </a:xfrm>
          <a:prstGeom prst="rect">
            <a:avLst/>
          </a:prstGeom>
          <a:noFill/>
        </p:spPr>
        <p:txBody>
          <a:bodyPr wrap="square" lIns="0" rIns="0" tIns="0" bIns="0" anchor="t">
            <a:spAutoFit/>
          </a:bodyPr>
          <a:lstStyle/>
          <a:p>
            <a:pPr algn="l">
              <a:lnSpc>
                <a:spcPct val="92000"/>
              </a:lnSpc>
              <a:spcBef>
                <a:spcPts val="0"/>
              </a:spcBef>
              <a:spcAft>
                <a:spcPts val="350"/>
              </a:spcAft>
            </a:pPr>
            <a:r>
              <a:rPr sz="980" b="0" i="0">
                <a:solidFill>
                  <a:srgbClr val="435256"/>
                </a:solidFill>
                <a:latin typeface="Arial"/>
              </a:rPr>
              <a:t>[1] Maeda et al., “Road Damage Detection and Classification Using Deep Neural Networks with Smartphone Images,” Computer-Aided Civil and Infrastructure Engineering, 2018. DOI: 10.1111/mice.12387.</a:t>
            </a:r>
          </a:p>
        </p:txBody>
      </p:sp>
      <p:sp>
        <p:nvSpPr>
          <p:cNvPr id="273" name="TextBox 272"/>
          <p:cNvSpPr txBox="1"/>
          <p:nvPr/>
        </p:nvSpPr>
        <p:spPr>
          <a:xfrm>
            <a:off x="15407640" y="20098511"/>
            <a:ext cx="12070080" cy="274320"/>
          </a:xfrm>
          <a:prstGeom prst="rect">
            <a:avLst/>
          </a:prstGeom>
          <a:noFill/>
        </p:spPr>
        <p:txBody>
          <a:bodyPr wrap="square" lIns="0" rIns="0" tIns="0" bIns="0" anchor="t">
            <a:spAutoFit/>
          </a:bodyPr>
          <a:lstStyle/>
          <a:p>
            <a:pPr algn="l">
              <a:lnSpc>
                <a:spcPct val="92000"/>
              </a:lnSpc>
              <a:spcBef>
                <a:spcPts val="0"/>
              </a:spcBef>
              <a:spcAft>
                <a:spcPts val="350"/>
              </a:spcAft>
            </a:pPr>
            <a:r>
              <a:rPr sz="980" b="0" i="0">
                <a:solidFill>
                  <a:srgbClr val="435256"/>
                </a:solidFill>
                <a:latin typeface="Arial"/>
              </a:rPr>
              <a:t>[2] Arya et al., “RDD2022: A multi-national image dataset for automatic road damage detection,” Geoscience Data Journal, 2024. DOI: 10.1002/gdj3.260.</a:t>
            </a:r>
          </a:p>
        </p:txBody>
      </p:sp>
      <p:sp>
        <p:nvSpPr>
          <p:cNvPr id="274" name="TextBox 273"/>
          <p:cNvSpPr txBox="1"/>
          <p:nvPr/>
        </p:nvSpPr>
        <p:spPr>
          <a:xfrm>
            <a:off x="2514600" y="20491704"/>
            <a:ext cx="12710160" cy="274320"/>
          </a:xfrm>
          <a:prstGeom prst="rect">
            <a:avLst/>
          </a:prstGeom>
          <a:noFill/>
        </p:spPr>
        <p:txBody>
          <a:bodyPr wrap="square" lIns="0" rIns="0" tIns="0" bIns="0" anchor="t">
            <a:spAutoFit/>
          </a:bodyPr>
          <a:lstStyle/>
          <a:p>
            <a:pPr algn="l">
              <a:lnSpc>
                <a:spcPct val="92000"/>
              </a:lnSpc>
              <a:spcBef>
                <a:spcPts val="0"/>
              </a:spcBef>
              <a:spcAft>
                <a:spcPts val="350"/>
              </a:spcAft>
            </a:pPr>
            <a:r>
              <a:rPr sz="960" b="0" i="0">
                <a:solidFill>
                  <a:srgbClr val="435256"/>
                </a:solidFill>
                <a:latin typeface="Arial"/>
              </a:rPr>
              <a:t>[3] Redmon et al., “You Only Look Once: Unified, Real-Time Object Detection,” CVPR, 2016.  [4] United Nations, Sustainable Development Goal 11: Sustainable Cities and Communities.</a:t>
            </a:r>
          </a:p>
        </p:txBody>
      </p:sp>
      <p:sp>
        <p:nvSpPr>
          <p:cNvPr id="275" name="TextBox 274"/>
          <p:cNvSpPr txBox="1"/>
          <p:nvPr/>
        </p:nvSpPr>
        <p:spPr>
          <a:xfrm>
            <a:off x="15407640" y="20491704"/>
            <a:ext cx="12070080" cy="274320"/>
          </a:xfrm>
          <a:prstGeom prst="rect">
            <a:avLst/>
          </a:prstGeom>
          <a:noFill/>
        </p:spPr>
        <p:txBody>
          <a:bodyPr wrap="square" lIns="0" rIns="0" tIns="0" bIns="0" anchor="t">
            <a:spAutoFit/>
          </a:bodyPr>
          <a:lstStyle/>
          <a:p>
            <a:pPr algn="l">
              <a:lnSpc>
                <a:spcPct val="92000"/>
              </a:lnSpc>
              <a:spcBef>
                <a:spcPts val="0"/>
              </a:spcBef>
              <a:spcAft>
                <a:spcPts val="350"/>
              </a:spcAft>
            </a:pPr>
            <a:r>
              <a:rPr sz="980" b="0" i="0">
                <a:solidFill>
                  <a:srgbClr val="435256"/>
                </a:solidFill>
                <a:latin typeface="Arial"/>
              </a:rPr>
              <a:t>Map tiles: CARTO basemap. Map data credit: © OpenStreetMap contributors — openstreetmap.org/copyright.</a:t>
            </a:r>
          </a:p>
        </p:txBody>
      </p:sp>
      <p:sp>
        <p:nvSpPr>
          <p:cNvPr id="276" name="TextBox 275"/>
          <p:cNvSpPr txBox="1"/>
          <p:nvPr/>
        </p:nvSpPr>
        <p:spPr>
          <a:xfrm>
            <a:off x="676656" y="20857464"/>
            <a:ext cx="27066240" cy="164592"/>
          </a:xfrm>
          <a:prstGeom prst="rect">
            <a:avLst/>
          </a:prstGeom>
          <a:noFill/>
        </p:spPr>
        <p:txBody>
          <a:bodyPr wrap="square" lIns="0" rIns="0" tIns="0" bIns="0" anchor="t">
            <a:spAutoFit/>
          </a:bodyPr>
          <a:lstStyle/>
          <a:p>
            <a:pPr algn="l">
              <a:lnSpc>
                <a:spcPct val="100000"/>
              </a:lnSpc>
              <a:spcBef>
                <a:spcPts val="0"/>
              </a:spcBef>
              <a:spcAft>
                <a:spcPts val="350"/>
              </a:spcAft>
            </a:pPr>
            <a:r>
              <a:rPr sz="960" b="1" i="0">
                <a:solidFill>
                  <a:srgbClr val="6E7D80"/>
                </a:solidFill>
                <a:latin typeface="Arial"/>
              </a:rPr>
              <a:t>PROJECT STATUS: working browser-based review interface; live ingestion, trained-model inference, persistent storage and measured field outcomes require further integration and validation.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